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28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A6500A-BD20-6991-86FE-F9A6B3CEBD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CD19E-A517-6E36-D396-98C062668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44548-92BD-47F0-87D2-AEC001FB0803}" type="datetimeFigureOut">
              <a:rPr lang="es-CL" smtClean="0"/>
              <a:t>22-04-2026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32125-BD39-0DBA-BA69-44734BD18D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668D-6C78-FF62-2287-2E9077401C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5EFF07-DD91-4751-94D4-C3EE7B355F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715932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74769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p. 1 (title, authors, affiliations, abstract).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1-2 (abstract, introduction, positioning of the study).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4-5 (baseline PSO, equations, controller description).
- Figure asset on this slide cropped from paper p. 5, Fig.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5-7 (linguistic schemes, membership function configuration, rule base configuration).
- Figure assets on this slide cropped from paper p. 6, Fig. 2 and p. 7, Fig.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7-8 (benchmark functions, Table 1, parameter settings, evaluation protocol).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9-10 (Table 2 and discussion of overall performance comparison, granularity, and set 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paper, pp. 10-11 (conclusions and future work).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13231" y="987552"/>
            <a:ext cx="94546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Impact of Linguistic Granularity and Fuzzy Semantic Design in Particle Swarm Optimization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31821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8A8A"/>
                </a:solidFill>
              </a:rPr>
              <a:t>Author information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8130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28323C"/>
                </a:solidFill>
              </a:rPr>
              <a:t>José Barrera-García</a:t>
            </a:r>
            <a:r>
              <a:rPr lang="en-US" sz="1500" baseline="30000" dirty="0">
                <a:solidFill>
                  <a:srgbClr val="28323C"/>
                </a:solidFill>
              </a:rPr>
              <a:t>1,2</a:t>
            </a:r>
            <a:r>
              <a:rPr lang="en-US" sz="1500" dirty="0">
                <a:solidFill>
                  <a:srgbClr val="28323C"/>
                </a:solidFill>
              </a:rPr>
              <a:t>, Broderick Crawford</a:t>
            </a:r>
            <a:r>
              <a:rPr lang="en-US" sz="1500" baseline="30000" dirty="0">
                <a:solidFill>
                  <a:srgbClr val="28323C"/>
                </a:solidFill>
              </a:rPr>
              <a:t>1</a:t>
            </a:r>
            <a:r>
              <a:rPr lang="en-US" sz="1500" dirty="0">
                <a:solidFill>
                  <a:srgbClr val="28323C"/>
                </a:solidFill>
              </a:rPr>
              <a:t>, Eric Monfroy</a:t>
            </a:r>
            <a:r>
              <a:rPr lang="en-US" sz="1500" baseline="30000" dirty="0">
                <a:solidFill>
                  <a:srgbClr val="28323C"/>
                </a:solidFill>
              </a:rPr>
              <a:t>3</a:t>
            </a:r>
            <a:r>
              <a:rPr lang="en-US" sz="1500" dirty="0">
                <a:solidFill>
                  <a:srgbClr val="28323C"/>
                </a:solidFill>
              </a:rPr>
              <a:t>, Felipe Cisternas-Caneo</a:t>
            </a:r>
            <a:r>
              <a:rPr lang="en-US" sz="1500" baseline="30000" dirty="0">
                <a:solidFill>
                  <a:srgbClr val="28323C"/>
                </a:solidFill>
              </a:rPr>
              <a:t>1</a:t>
            </a:r>
            <a:r>
              <a:rPr lang="en-US" sz="1500" dirty="0">
                <a:solidFill>
                  <a:srgbClr val="28323C"/>
                </a:solidFill>
              </a:rPr>
              <a:t>, Ricardo Soto</a:t>
            </a:r>
            <a:r>
              <a:rPr lang="en-US" sz="1500" baseline="30000" dirty="0">
                <a:solidFill>
                  <a:srgbClr val="28323C"/>
                </a:solidFill>
              </a:rPr>
              <a:t>1</a:t>
            </a:r>
            <a:r>
              <a:rPr lang="en-US" sz="1500" dirty="0">
                <a:solidFill>
                  <a:srgbClr val="28323C"/>
                </a:solidFill>
              </a:rPr>
              <a:t>, Giovanni Giachetti</a:t>
            </a:r>
            <a:r>
              <a:rPr lang="en-US" sz="1500" baseline="30000" dirty="0">
                <a:solidFill>
                  <a:srgbClr val="28323C"/>
                </a:solidFill>
              </a:rPr>
              <a:t>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50799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</a:rPr>
              <a:t>Pontificia Universidad Católica de Valparaíso · Universidad de Alcalá · Université d’Angers · Universidad Andrés Bello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33688" y="2699309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33688" y="3262579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CFB4663-91FB-0E71-ECE5-EAE9F7F5B36B}"/>
              </a:ext>
            </a:extLst>
          </p:cNvPr>
          <p:cNvSpPr/>
          <p:nvPr/>
        </p:nvSpPr>
        <p:spPr>
          <a:xfrm>
            <a:off x="713232" y="53126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0"/>
                </a:solidFill>
              </a:rPr>
              <a:t>Correspondence to jose.barrera@pucv.cl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Motivation and contribution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124711"/>
            <a:ext cx="4892040" cy="5422387"/>
          </a:xfrm>
          <a:prstGeom prst="roundRect">
            <a:avLst>
              <a:gd name="adj" fmla="val 1538"/>
            </a:avLst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32688" y="1197592"/>
            <a:ext cx="2103120" cy="480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Gap in the literature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860164"/>
            <a:ext cx="4206240" cy="196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i="1" dirty="0">
                <a:solidFill>
                  <a:srgbClr val="28323C"/>
                </a:solidFill>
              </a:rPr>
              <a:t>Most fuzzy-PSO papers fix linguistic partitions and MFs.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i="1" dirty="0">
                <a:solidFill>
                  <a:srgbClr val="28323C"/>
                </a:solidFill>
              </a:rPr>
              <a:t>This paper asks whether semantic design itself changes behavior.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3909257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02060"/>
                </a:solidFill>
              </a:rPr>
              <a:t>The paper isolates two design choices that are usually treated as implementation details:</a:t>
            </a:r>
          </a:p>
        </p:txBody>
      </p:sp>
      <p:sp>
        <p:nvSpPr>
          <p:cNvPr id="10" name="Text 8"/>
          <p:cNvSpPr/>
          <p:nvPr/>
        </p:nvSpPr>
        <p:spPr>
          <a:xfrm>
            <a:off x="932688" y="3909257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32688" y="4442092"/>
            <a:ext cx="3959352" cy="1688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8323C"/>
                </a:solidFill>
              </a:rPr>
              <a:t>Linguistic granularity: 3 labels vs 5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8323C"/>
                </a:solidFill>
              </a:rPr>
              <a:t>Membership shape/overlap: Set A vs Set B</a:t>
            </a:r>
            <a:endParaRPr lang="en-US" sz="17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8323C"/>
                </a:solidFill>
              </a:rPr>
              <a:t>Constant control logic across all variants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32688" y="4462286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32688" y="5015315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5806440" y="1124712"/>
            <a:ext cx="5696712" cy="5422386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824728" y="1180340"/>
            <a:ext cx="5650992" cy="48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</a:rPr>
              <a:t>Study design in one view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196596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7F5F4"/>
          </a:solidFill>
          <a:ln w="12700">
            <a:solidFill>
              <a:srgbClr val="E7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382512" y="213055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</a:rPr>
              <a:t>Search state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82512" y="237744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0"/>
                </a:solidFill>
              </a:rPr>
              <a:t>progress + diversity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9659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8F1DE"/>
          </a:solidFill>
          <a:ln w="12700">
            <a:solidFill>
              <a:srgbClr val="F8F1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8119872" y="213055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</a:rPr>
              <a:t>Fuzzy scheme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19872" y="2464901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0"/>
                </a:solidFill>
              </a:rPr>
              <a:t>3/5 labels, A/B sets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9EAEA"/>
          </a:solidFill>
          <a:ln w="12700">
            <a:solidFill>
              <a:srgbClr val="F9E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9765792" y="213055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65792" y="237744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0"/>
                </a:solidFill>
              </a:rPr>
              <a:t>Mamdani inference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0" y="32461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AF6EE"/>
          </a:solidFill>
          <a:ln w="12700">
            <a:solidFill>
              <a:srgbClr val="EAF6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8119872" y="3410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24F"/>
                </a:solidFill>
              </a:rPr>
              <a:t>Outcome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19872" y="36576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0"/>
                </a:solidFill>
              </a:rPr>
              <a:t>fitness + robustness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2359152"/>
            <a:ext cx="201168" cy="109728"/>
          </a:xfrm>
          <a:prstGeom prst="chevron">
            <a:avLst/>
          </a:prstGeom>
          <a:solidFill>
            <a:srgbClr val="1F8A8A"/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464040" y="2359152"/>
            <a:ext cx="201168" cy="109728"/>
          </a:xfrm>
          <a:prstGeom prst="chevron">
            <a:avLst/>
          </a:prstGeom>
          <a:solidFill>
            <a:srgbClr val="1F8A8A"/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 rot="5400000">
            <a:off x="8750808" y="2761488"/>
            <a:ext cx="201168" cy="384048"/>
          </a:xfrm>
          <a:prstGeom prst="chevron">
            <a:avLst/>
          </a:prstGeom>
          <a:solidFill>
            <a:srgbClr val="1F8A8A"/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144768" y="4517653"/>
            <a:ext cx="1673352" cy="23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</a:rPr>
              <a:t>Main claim</a:t>
            </a:r>
          </a:p>
        </p:txBody>
      </p:sp>
      <p:sp>
        <p:nvSpPr>
          <p:cNvPr id="34" name="Text 32"/>
          <p:cNvSpPr/>
          <p:nvPr/>
        </p:nvSpPr>
        <p:spPr>
          <a:xfrm>
            <a:off x="6144768" y="4754879"/>
            <a:ext cx="4846320" cy="77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4C58"/>
                </a:solidFill>
              </a:rPr>
              <a:t>Semantic design is a relevant experimental dimension in adaptive metaheuristics and should be analyzed explicitly.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58368" y="1123519"/>
            <a:ext cx="3931920" cy="5074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Fuzzy-controlled PSO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Method overview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3931920" cy="568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What changes vs baseline PSO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1798308"/>
            <a:ext cx="3310128" cy="3103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Usually, baseline PSO uses a linear inertia schedule from 0.9 down to </a:t>
            </a:r>
            <a:r>
              <a:rPr lang="en-US" sz="1650" dirty="0"/>
              <a:t>0.1.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50" dirty="0"/>
              <a:t>The fuzzy variant </a:t>
            </a:r>
            <a:r>
              <a:rPr lang="en-US" sz="1650" dirty="0">
                <a:solidFill>
                  <a:srgbClr val="28323C"/>
                </a:solidFill>
              </a:rPr>
              <a:t>evaluates one Mamdani controller per iteration at the swarm level.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8323C"/>
                </a:solidFill>
              </a:rPr>
              <a:t>Inputs: </a:t>
            </a:r>
            <a:r>
              <a:rPr lang="en-US" sz="1400" dirty="0">
                <a:solidFill>
                  <a:srgbClr val="28323C"/>
                </a:solidFill>
              </a:rPr>
              <a:t>iteration progress and population diversity.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28323C"/>
                </a:solidFill>
              </a:rPr>
              <a:t>Output: </a:t>
            </a:r>
            <a:r>
              <a:rPr lang="en-US" sz="1400" dirty="0">
                <a:solidFill>
                  <a:srgbClr val="28323C"/>
                </a:solidFill>
              </a:rPr>
              <a:t>inertia weight </a:t>
            </a:r>
            <a:r>
              <a:rPr lang="en-US" sz="1400" dirty="0" err="1">
                <a:solidFill>
                  <a:srgbClr val="28323C"/>
                </a:solidFill>
              </a:rPr>
              <a:t>w_t</a:t>
            </a:r>
            <a:r>
              <a:rPr lang="en-US" sz="1400" dirty="0">
                <a:solidFill>
                  <a:srgbClr val="28323C"/>
                </a:solidFill>
              </a:rPr>
              <a:t> constrained to [</a:t>
            </a:r>
            <a:r>
              <a:rPr lang="en-US" sz="1400" dirty="0" err="1">
                <a:solidFill>
                  <a:srgbClr val="28323C"/>
                </a:solidFill>
              </a:rPr>
              <a:t>w_min</a:t>
            </a:r>
            <a:r>
              <a:rPr lang="en-US" sz="1400" dirty="0">
                <a:solidFill>
                  <a:srgbClr val="28323C"/>
                </a:solidFill>
              </a:rPr>
              <a:t>, </a:t>
            </a:r>
            <a:r>
              <a:rPr lang="en-US" sz="1400" dirty="0" err="1">
                <a:solidFill>
                  <a:srgbClr val="28323C"/>
                </a:solidFill>
              </a:rPr>
              <a:t>w_max</a:t>
            </a:r>
            <a:r>
              <a:rPr lang="en-US" sz="1400" dirty="0">
                <a:solidFill>
                  <a:srgbClr val="28323C"/>
                </a:solidFill>
              </a:rPr>
              <a:t>].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8323C"/>
                </a:solidFill>
              </a:rPr>
              <a:t>Defuzzification uses the centroid method.</a:t>
            </a:r>
          </a:p>
        </p:txBody>
      </p:sp>
      <p:sp>
        <p:nvSpPr>
          <p:cNvPr id="18" name="Text 16"/>
          <p:cNvSpPr/>
          <p:nvPr/>
        </p:nvSpPr>
        <p:spPr>
          <a:xfrm>
            <a:off x="960120" y="491707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0"/>
                </a:solidFill>
              </a:rPr>
              <a:t>Key controller inputs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" y="5111095"/>
            <a:ext cx="1508760" cy="41148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5553583"/>
            <a:ext cx="3154680" cy="5303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828032" y="1115568"/>
            <a:ext cx="6720840" cy="5074920"/>
          </a:xfrm>
          <a:prstGeom prst="roundRect">
            <a:avLst>
              <a:gd name="adj" fmla="val 1441"/>
            </a:avLst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18"/>
          <p:cNvSpPr/>
          <p:nvPr/>
        </p:nvSpPr>
        <p:spPr>
          <a:xfrm>
            <a:off x="4846320" y="1115568"/>
            <a:ext cx="6702552" cy="463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</a:rPr>
              <a:t>Controller embedded inside the PSO loop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230368" y="5074920"/>
            <a:ext cx="5715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700" dirty="0">
                <a:solidFill>
                  <a:srgbClr val="28323C"/>
                </a:solidFill>
              </a:rPr>
              <a:t>The fuzzy controller replaces a fixed inertia schedule with state-aware adaptation based on where the swarm is in the search and how diverse it remains.</a:t>
            </a:r>
            <a:endParaRPr lang="en-US" sz="17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F091C01-DFA6-64E7-45FB-DA5F7A2B3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168" y="2279592"/>
            <a:ext cx="5942865" cy="1910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varies across fuzzy variants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Semantic configuration only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515" y="1097280"/>
            <a:ext cx="7823083" cy="416478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14407" y="1089637"/>
            <a:ext cx="4750255" cy="27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</a:rPr>
              <a:t>Input Membership functions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79" y="5383516"/>
            <a:ext cx="7691719" cy="1429245"/>
          </a:xfrm>
          <a:prstGeom prst="roundRect">
            <a:avLst>
              <a:gd name="adj" fmla="val 2857"/>
            </a:avLst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82879" y="5362649"/>
            <a:ext cx="7303140" cy="384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</a:rPr>
              <a:t>Controlled comparison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14408" y="5581141"/>
            <a:ext cx="6444576" cy="1231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Two granularities: 3 labels and 5 labels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Two membership sets for output variable (w): A and B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Same universes of discourse, same rule-base semantics</a:t>
            </a:r>
            <a:endParaRPr lang="en-US" sz="155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Only the semantic resolution and overlap patterns change</a:t>
            </a:r>
            <a:endParaRPr lang="en-US" sz="155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672AC60-DDA6-CD22-BF5B-1E5EE854AB44}"/>
              </a:ext>
            </a:extLst>
          </p:cNvPr>
          <p:cNvGrpSpPr/>
          <p:nvPr/>
        </p:nvGrpSpPr>
        <p:grpSpPr>
          <a:xfrm>
            <a:off x="8014447" y="1089636"/>
            <a:ext cx="3906233" cy="5723124"/>
            <a:chOff x="8285766" y="3886674"/>
            <a:chExt cx="3906233" cy="2496312"/>
          </a:xfrm>
        </p:grpSpPr>
        <p:sp>
          <p:nvSpPr>
            <p:cNvPr id="19" name="Shape 16"/>
            <p:cNvSpPr/>
            <p:nvPr/>
          </p:nvSpPr>
          <p:spPr>
            <a:xfrm>
              <a:off x="8285766" y="3886674"/>
              <a:ext cx="3906233" cy="2496312"/>
            </a:xfrm>
            <a:prstGeom prst="roundRect">
              <a:avLst>
                <a:gd name="adj" fmla="val 2930"/>
              </a:avLst>
            </a:prstGeom>
            <a:solidFill>
              <a:srgbClr val="FFFFFF"/>
            </a:solidFill>
            <a:ln w="12700">
              <a:solidFill>
                <a:srgbClr val="D7DDE7"/>
              </a:solidFill>
              <a:prstDash val="solid"/>
            </a:ln>
            <a:effectLst>
              <a:outerShdw blurRad="12700" dist="1524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 17"/>
            <p:cNvSpPr/>
            <p:nvPr/>
          </p:nvSpPr>
          <p:spPr>
            <a:xfrm>
              <a:off x="8285766" y="3886675"/>
              <a:ext cx="3906233" cy="1378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6324F"/>
                  </a:solidFill>
                </a:rPr>
                <a:t>Rule bases keep the same strategy</a:t>
              </a:r>
              <a:endParaRPr lang="en-US" sz="1800" dirty="0"/>
            </a:p>
          </p:txBody>
        </p:sp>
      </p:grpSp>
      <p:sp>
        <p:nvSpPr>
          <p:cNvPr id="22" name="Text 18"/>
          <p:cNvSpPr/>
          <p:nvPr/>
        </p:nvSpPr>
        <p:spPr>
          <a:xfrm>
            <a:off x="8014447" y="6382511"/>
            <a:ext cx="3906233" cy="430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570"/>
                </a:solidFill>
              </a:rPr>
              <a:t>More labels refine the control surface but do not change the underlying logic.</a:t>
            </a:r>
            <a:endParaRPr lang="en-US" sz="14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01246A-7DF1-09EE-F659-9A0069E08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0" y="1405597"/>
            <a:ext cx="2287883" cy="37914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434BB9B-FEA8-5D56-E3A7-242B88AC7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780" y="1416355"/>
            <a:ext cx="2287882" cy="37737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5AF9523-07ED-0604-4125-313C5819D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352" y="1367830"/>
            <a:ext cx="2836425" cy="38948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930177-1CB2-B165-826E-B269E2F4E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026" y="1394624"/>
            <a:ext cx="3219604" cy="24994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FBE99F-D458-BE01-00C6-1C70C0B07E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027" y="3889642"/>
            <a:ext cx="3219603" cy="2492869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77C7365-5997-4CDF-6BD6-5DECF1904DF9}"/>
              </a:ext>
            </a:extLst>
          </p:cNvPr>
          <p:cNvSpPr/>
          <p:nvPr/>
        </p:nvSpPr>
        <p:spPr>
          <a:xfrm>
            <a:off x="4881093" y="1094961"/>
            <a:ext cx="2967684" cy="27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</a:rPr>
              <a:t>Output Membership functions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829CDBE-18F8-D129-D881-BABDA5C14FA1}"/>
              </a:ext>
            </a:extLst>
          </p:cNvPr>
          <p:cNvSpPr/>
          <p:nvPr/>
        </p:nvSpPr>
        <p:spPr>
          <a:xfrm>
            <a:off x="76953" y="1669582"/>
            <a:ext cx="180304" cy="999658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</a:rPr>
              <a:t>3 labels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7852CB5-B0A6-394D-371F-AB1D4A53DAE1}"/>
              </a:ext>
            </a:extLst>
          </p:cNvPr>
          <p:cNvSpPr/>
          <p:nvPr/>
        </p:nvSpPr>
        <p:spPr>
          <a:xfrm>
            <a:off x="68366" y="3465822"/>
            <a:ext cx="180304" cy="999658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</a:rPr>
              <a:t>5 labels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Benchmarks and protocol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5833872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32688" y="1344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Benchmark functions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751263"/>
              </p:ext>
            </p:extLst>
          </p:nvPr>
        </p:nvGraphicFramePr>
        <p:xfrm>
          <a:off x="864108" y="1802282"/>
          <a:ext cx="5029200" cy="24780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35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</a:t>
                      </a:r>
                      <a:endParaRPr lang="en-US" sz="135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Dim.</a:t>
                      </a:r>
                      <a:endParaRPr lang="en-US" sz="135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optimum</a:t>
                      </a:r>
                      <a:endParaRPr lang="en-US" sz="135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F1 - Sphere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Unimodal, smooth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F11 - Griewank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Regular multimodal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F21 - Shekel (m=5)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Rugged multimodal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-10.1532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F23 - Shekel (m=10)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Rugged multimodal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-10.5363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87552" y="1819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95728" y="181965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90288" y="1819656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120640" y="18196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4531191"/>
            <a:ext cx="5029200" cy="740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323C"/>
                </a:solidFill>
              </a:rPr>
              <a:t>The function set intentionally mixes easy high-dimensional landscapes with difficult low-dimensional multimodal ones.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" y="5346473"/>
            <a:ext cx="5029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0"/>
                </a:solidFill>
              </a:rPr>
              <a:t>This makes it possible to test whether fuzzy control helps universally or only under certain landscape structures.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97980" y="2098843"/>
            <a:ext cx="4882896" cy="3578371"/>
          </a:xfrm>
          <a:prstGeom prst="roundRect">
            <a:avLst>
              <a:gd name="adj" fmla="val 1498"/>
            </a:avLst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7008876" y="232744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Protocol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89420" y="2682984"/>
            <a:ext cx="4759452" cy="264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Population size = 50; maximum iterations = 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31 independent runs for every algorithm-function pair.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Shared seeding strategy: seeds start at 42 and increase by 1 per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Variants compared: baseline PSO, A3, B3, A5, B5.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8323C"/>
                </a:solidFill>
              </a:rPr>
              <a:t>Metrics: final best fitness, relative gap to optimum, standard deviation, execution time.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168896" y="2275027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168896" y="281269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168896" y="335036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168896" y="3888029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performance is landscape-dependent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Table 2 distilled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09728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9EAEA"/>
          </a:solidFill>
          <a:ln w="12700">
            <a:solidFill>
              <a:srgbClr val="F9EAEA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45819" y="1115569"/>
            <a:ext cx="2794527" cy="372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4A4A"/>
                </a:solidFill>
              </a:rPr>
              <a:t>Where baseline PSO wins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49771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</a:rPr>
              <a:t>Smooth or structurally regular landscapes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764552"/>
              </p:ext>
            </p:extLst>
          </p:nvPr>
        </p:nvGraphicFramePr>
        <p:xfrm>
          <a:off x="914400" y="1711658"/>
          <a:ext cx="4408098" cy="1554480"/>
        </p:xfrm>
        <a:graphic>
          <a:graphicData uri="http://schemas.openxmlformats.org/drawingml/2006/table">
            <a:tbl>
              <a:tblPr/>
              <a:tblGrid>
                <a:gridCol w="2179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32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method</a:t>
                      </a:r>
                      <a:endParaRPr lang="en-US" sz="132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b="1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gap</a:t>
                      </a:r>
                      <a:endParaRPr lang="en-US" sz="1320" b="1" i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F1 - Sphere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23.1%</a:t>
                      </a:r>
                      <a:endParaRPr lang="en-US" sz="132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fuzzy on F1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74,768.8%</a:t>
                      </a:r>
                      <a:endParaRPr lang="en-US" sz="132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F11 - Griewank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PSO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1.2%</a:t>
                      </a:r>
                      <a:endParaRPr lang="en-US" sz="132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fuzzy on F11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</a:t>
                      </a:r>
                      <a:endParaRPr lang="en-US" sz="13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674.6%</a:t>
                      </a:r>
                      <a:endParaRPr lang="en-US" sz="132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4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32688" y="3454878"/>
            <a:ext cx="4892040" cy="36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54A4A"/>
                </a:solidFill>
              </a:rPr>
              <a:t>Takeaway: adaptive inertia hurts when the baseline dynamics are already well matched to the landscape.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91072" y="1097280"/>
            <a:ext cx="5239512" cy="2788920"/>
          </a:xfrm>
          <a:prstGeom prst="roundRect">
            <a:avLst>
              <a:gd name="adj" fmla="val 2623"/>
            </a:avLst>
          </a:prstGeom>
          <a:solidFill>
            <a:srgbClr val="EAF6EE"/>
          </a:solidFill>
          <a:ln w="12700">
            <a:solidFill>
              <a:srgbClr val="EAF6EE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528815" y="1115570"/>
            <a:ext cx="2770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9B5E"/>
                </a:solidFill>
              </a:rPr>
              <a:t>Where fuzzy control wins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65392" y="149772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0"/>
                </a:solidFill>
              </a:rPr>
              <a:t>Rugged multimodal Shekel landscapes</a:t>
            </a:r>
            <a:endParaRPr lang="en-US" sz="12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5538"/>
              </p:ext>
            </p:extLst>
          </p:nvPr>
        </p:nvGraphicFramePr>
        <p:xfrm>
          <a:off x="6528816" y="1737534"/>
          <a:ext cx="4297680" cy="1539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30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fuzzy</a:t>
                      </a:r>
                      <a:endParaRPr lang="en-US" sz="130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i="1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vs PSO</a:t>
                      </a:r>
                      <a:endParaRPr lang="en-US" sz="1300" b="1" i="1" dirty="0">
                        <a:solidFill>
                          <a:schemeClr val="bg2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F21 - Shekel (m=5)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23.7% vs 38.1%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Std. dev. on F21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1.275 vs 3.803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F23 - Shekel (m=10)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22.1% vs 28.6%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Std. dev. on F23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8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1.243 vs 3.877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AE5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565392" y="3493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A9B5E"/>
                </a:solidFill>
              </a:rPr>
              <a:t>Robustness improves sharply: variability drops by about two-thirds on both Shekel benchmarks.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58368" y="4206240"/>
            <a:ext cx="1088136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932687" y="4250406"/>
            <a:ext cx="4521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How much do semantic details matter?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32688" y="4788073"/>
            <a:ext cx="9674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28323C"/>
                </a:solidFill>
              </a:rPr>
              <a:t>Five-label schemes sometimes reduce mean gap slightly on the multimodal benchmarks, but the gains are incremental.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28323C"/>
                </a:solidFill>
              </a:rPr>
              <a:t>Sets A and B perform similarly overall; there is no systematic winner for membership-shape design.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28323C"/>
                </a:solidFill>
              </a:rPr>
              <a:t>The presence of adaptive control matters more than the exact fuzzy semantic configuration.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1133856" y="5383987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1133856" y="5921654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95528"/>
            <a:ext cx="10972800" cy="0"/>
          </a:xfrm>
          <a:prstGeom prst="line">
            <a:avLst/>
          </a:prstGeom>
          <a:noFill/>
          <a:ln w="1524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21240" y="347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570"/>
                </a:solidFill>
              </a:rPr>
              <a:t>Bottom line for the audience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152144"/>
            <a:ext cx="6446520" cy="4983480"/>
          </a:xfrm>
          <a:prstGeom prst="roundRect">
            <a:avLst>
              <a:gd name="adj" fmla="val 1468"/>
            </a:avLst>
          </a:prstGeom>
          <a:solidFill>
            <a:srgbClr val="ECF1F7"/>
          </a:solidFill>
          <a:ln w="12700">
            <a:solidFill>
              <a:srgbClr val="ECF1F7">
                <a:alpha val="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Main conclusions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56052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8323C"/>
                </a:solidFill>
              </a:rPr>
              <a:t>Fuzzy-controlled inertia adaptation is not a universal upgrade for PSO.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8323C"/>
                </a:solidFill>
              </a:rPr>
              <a:t>It hurts performance on unimodal or regular landscapes, but improves average quality and robustness on harder multimodal problems.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8323C"/>
                </a:solidFill>
              </a:rPr>
              <a:t>Linguistic granularity and membership design have a measurable but secondary, problem-dependent effect.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40487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2461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4498848"/>
            <a:ext cx="58064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s-CL" dirty="0"/>
          </a:p>
        </p:txBody>
      </p:sp>
      <p:sp>
        <p:nvSpPr>
          <p:cNvPr id="15" name="Text 13"/>
          <p:cNvSpPr/>
          <p:nvPr/>
        </p:nvSpPr>
        <p:spPr>
          <a:xfrm>
            <a:off x="987552" y="4498848"/>
            <a:ext cx="57790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4C58"/>
                </a:solidFill>
              </a:rPr>
              <a:t>Analyze fuzzy semantic design explicitly - but deploy fuzzy control selectively, where the search space is truly rugged and multimodal.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1152144"/>
            <a:ext cx="4224528" cy="4983480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7DDE7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15200" y="12435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1645920"/>
            <a:ext cx="4069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Add more search-process metrics beyond progress and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Develop dynamic mechanisms that can select or adapt fuzzy configurations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28323C"/>
                </a:solidFill>
              </a:rPr>
              <a:t>Bridge fuzzy control with machine-learning-enhanced metaheuristics for more context-aware adaptation.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845552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845552" y="3246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794453" y="4017981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7F5F4"/>
          </a:solidFill>
          <a:ln w="12700">
            <a:solidFill>
              <a:srgbClr val="E7F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8023053" y="4100277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F"/>
                </a:solidFill>
              </a:rPr>
              <a:t>The paper contributes a careful experimental lens, not a new optimizer.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1028</Words>
  <Application>Microsoft Office PowerPoint</Application>
  <PresentationFormat>Panorámica</PresentationFormat>
  <Paragraphs>148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the Impact of Linguistic Granularity and Fuzzy Semantic Design in Particle Swarm Optimization</dc:title>
  <dc:subject/>
  <dc:creator>Leo</dc:creator>
  <cp:lastModifiedBy>Jose Barrera Garcia</cp:lastModifiedBy>
  <cp:revision>10</cp:revision>
  <dcterms:created xsi:type="dcterms:W3CDTF">2026-03-31T00:49:26Z</dcterms:created>
  <dcterms:modified xsi:type="dcterms:W3CDTF">2026-04-22T19:09:03Z</dcterms:modified>
</cp:coreProperties>
</file>