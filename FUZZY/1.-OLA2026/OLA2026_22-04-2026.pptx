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17" autoAdjust="0"/>
  </p:normalViewPr>
  <p:slideViewPr>
    <p:cSldViewPr snapToGrid="0" snapToObjects="1">
      <p:cViewPr varScale="1">
        <p:scale>
          <a:sx n="88" d="100"/>
          <a:sy n="88" d="100"/>
        </p:scale>
        <p:origin x="108" y="8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203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SCRIPT (Slide 1 — Title):</a:t>
            </a:r>
          </a:p>
          <a:p>
            <a:r>
              <a:rPr dirty="0"/>
              <a:t>Good morning. Thank you for being here. My name is </a:t>
            </a:r>
            <a:r>
              <a:rPr lang="es-CL" dirty="0"/>
              <a:t>_________</a:t>
            </a:r>
            <a:r>
              <a:rPr dirty="0"/>
              <a:t>and I will present joint work with Broderick Crawford, Eric </a:t>
            </a:r>
            <a:r>
              <a:rPr dirty="0" err="1"/>
              <a:t>Monfroy</a:t>
            </a:r>
            <a:r>
              <a:rPr dirty="0"/>
              <a:t>, Felipe Cisternas-Caneo, Ricardo Soto, and Giovanni Giachetti, conducted across PUCV in Chile, the University of Alcalá in Spain, the University of Angers in France, and Universidad Andrés Bello. The talk is titled 'On the Impact of Linguistic Granularity and Fuzzy Semantic Design in Particle Swarm Optimization.' I will spend the next fifteen minutes describing an experimental study that isolates one design dimension of fuzzy-controlled PSO that is rarely </a:t>
            </a:r>
            <a:r>
              <a:rPr dirty="0" err="1"/>
              <a:t>analysed</a:t>
            </a:r>
            <a:r>
              <a:rPr dirty="0"/>
              <a:t> in the literature.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2 — Summary):</a:t>
            </a:r>
          </a:p>
          <a:p>
            <a:r>
              <a:t>The work starts from a simple question. Fuzzy controllers are widely used to adapt PSO parameters, but most papers fix one fuzzy configuration up front and never test alternatives. We ask: how much does that semantic design — the number of linguistic labels and the shape of the membership functions — actually matter? Our study compares three- and five-label schemes under exactly the same control logic. The take-away, which I will develop in the rest of the talk, is that fuzzy control is not universally better: it helps on rugged multimodal problems, and clearly hurts on smooth or structurally regular 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3 — Motivation):</a:t>
            </a:r>
          </a:p>
          <a:p>
            <a:r>
              <a:t>PSO behaviour is governed by the inertia weight w, which controls the balance between exploration and exploitation. This was already clear in Kennedy and Eberhart's original paper, and was made explicit by Shi and Eberhart shortly after. Fuzzy control is a natural way to adapt w online: it lets us describe the search state qualitatively — 'low diversity', 'late stage', and so on. The problem is that, in the literature, the fuzzy partition and the membership functions are almost always fixed a priori. Nobody asks whether that semantic choice matters. Our research question is exactly that. And let me be very explicit: this paper does not propose a new optimisation algorithm. It is an experimental study designed to isolate the effect of semantic design.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4 — Related Work):</a:t>
            </a:r>
          </a:p>
          <a:p>
            <a:r>
              <a:t>The literature on fuzzy-adaptive PSO is rich. After Shi and Eberhart's seminal proposal, more sophisticated controllers appeared: Nobile's fuzzy self-tuning PSO, Xia's MIMO fuzzy controller, and Komarudin's fuzzy signatures. All of them focus on the architecture of the controller. A second line of work, exemplified by Olivas, has shown that even when the rule base is held fixed, changing membership-function shapes produces statistically significant performance differences. Finally, the granular-computing community — Huang, Zhang, and Zhao — has shown that linguistic resolution is not a neutral transformation. What is missing is the systematic combination of these observations inside PSO. Our work fills that gap.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5 — Baseline PSO):</a:t>
            </a:r>
          </a:p>
          <a:p>
            <a:r>
              <a:t>These are the standard PSO update equations. The only thing that changes between our experimental variants is the inertia weight w. The baseline uses a linear decreasing schedule from zero point nine down to zero point one, which is one of the most common choices in the literature. Every other parameter — population, cognitive and social coefficients, velocity bounds — is held identical across all variants. This is what allows us to attribute observed differences to the inertia control mechanism alone.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6 — Fuzzy Controller):</a:t>
            </a:r>
          </a:p>
          <a:p>
            <a:r>
              <a:t>We use a standard Mamdani fuzzy inference system, evaluated once per iteration at the swarm level, not at the particle level. It takes two normalised inputs. The first is iteration progress: a simple ratio between the current and the maximum iteration. The second is population diversity, computed per dimension as the normalised spatial spread of the swarm. This is a classical metric and bounds the value to the unit interval. The output is the inertia weight w, restricted to a working interval, and obtained by centroid defuzzification. The point I want to stress is that across all our variants, this architecture is exactly the same. Only the linguistic representation changes.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7 — Linguistic Schemes):</a:t>
            </a:r>
          </a:p>
          <a:p>
            <a:r>
              <a:t>We evaluate two linguistic granularities — three labels and five labels — and for each granularity we test two distinct configurations of membership functions, called Set A and Set B. Sets A and B differ only in the shape, the overlap, and the placement of the triangular and trapezoidal membership functions. The linguistic variables themselves, the universes of discourse, and the rule structure are kept identical. Membership functions are static — they do not change during the run. On the bottom you can see, on the left, the diversity input membership functions and, on the right, the iteration progress input. This four-way design — A3, B3, A5, B5 — is what lets us isolate the effect of semantic resolution from the effect of control logic.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8 — Rule Base):</a:t>
            </a:r>
          </a:p>
          <a:p>
            <a:r>
              <a:t>These two heatmaps show the rule base for both granularities. On the left, the three-by-three rule matrix for the three-label scheme; on the right, the five-by-five matrix for the five-label scheme. The colour coding indicates the dominant output linguistic term — low, medium, or high inertia — for each combination of inputs. The crucial point is that the qualitative strategy is preserved when we move from three to five labels: the rule base becomes finer, but it does not encode a different control philosophy. So any performance change we observe between granularities will reflect the resolution of the control surface, not a change of strategy.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SCRIPT (Slide 9 — Benchmarks):</a:t>
            </a:r>
          </a:p>
          <a:p>
            <a:r>
              <a:rPr dirty="0"/>
              <a:t>We deliberately chose a small set of four classical functions, but with very different landscape characteristics. F1, the sphere function, is smooth and unimodal — we evaluate it in one hundred dimensions to stress convergence in a large search space. F11, </a:t>
            </a:r>
            <a:r>
              <a:rPr dirty="0" err="1"/>
              <a:t>Griewank</a:t>
            </a:r>
            <a:r>
              <a:rPr dirty="0"/>
              <a:t>, is multimodal but structurally regular, also in one hundred dimensions. F21 and F23 are Shekel functions in four dimensions, with five and ten components respectively — these are rugged, with many deep local minima concentrated in a small search space. All implementations come from the </a:t>
            </a:r>
            <a:r>
              <a:rPr dirty="0" err="1"/>
              <a:t>Opfunu</a:t>
            </a:r>
            <a:r>
              <a:rPr dirty="0"/>
              <a:t> library, so the definitions are reproducible and standard.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10 — Experimental Protocol):</a:t>
            </a:r>
          </a:p>
          <a:p>
            <a:r>
              <a:t>All variants share an identical experimental protocol: fifty particles, five hundred iterations, thirty-one independent runs per algorithm-function combination. To reduce stochastic noise while preserving comparability, we use a shared seeding strategy: every algorithm uses the same seed for the same run number, starting at forty-two. We evaluate the baseline PSO plus the four fuzzy variants — A three, B three, A five, B five. Performance is measured by the relative gap to the known optimum, and we report mean and standard deviation over the thirty-one runs.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11 — Results Table):</a:t>
            </a:r>
          </a:p>
          <a:p>
            <a:r>
              <a:t>This is the full performance summary; let me walk you through the key rows. On F1, the unimodal sphere, baseline PSO reaches a mean fitness of about twenty-three, while every fuzzy variant collapses to roughly seventy-five thousand — a gap of more than seventy thousand percent. Something similar happens on F11, the regular Griewank function: PSO gets one point two, fuzzy variants stay around six hundred and seventy-five. I want to be direct about this: in these two settings, fuzzy adaptation is catastrophic. The picture flips on the rugged Shekel functions. On F21, baseline PSO has a gap of thirty-eight percent; the best fuzzy variant, A-five, brings it down to twenty-three point seven. On F23, the gap drops from twenty-eight point six to twenty-two point one with A-three. And — importantly — the standard deviation is roughly halved. So fuzzy control buys us robustness on the right kind of problem.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12 — Problem-Dependent Insight):</a:t>
            </a:r>
          </a:p>
          <a:p>
            <a:r>
              <a:t>The contrast on the previous slide leads us to the central claim of the paper. On the left column, smooth or structurally regular landscapes: baseline PSO dominates, and fuzzy adaptation actually interferes with an already efficient process. On the right column, rugged multimodal landscapes: fuzzy control improves both the mean and the robustness. The execution-time overhead of the fuzzy inference — about two extra seconds per run — is modest and is justified only when fuzzy control actually helps. The honest take-away is the one in italics: fuzzy adaptation is strongly problem-dependent. There is no universal winner, and any future work that claims one should be questioned.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13 — Granularity Effect):</a:t>
            </a:r>
          </a:p>
          <a:p>
            <a:r>
              <a:t>Now to the central research question. When fuzzy control fails — on F1 and F11 — neither switching to five labels nor changing from Set A to Set B rescues the performance. When fuzzy control works — on F21 and F23 — five-label schemes do tend to give a small additional improvement in mean gap and sometimes lower variability, but the effect is mild and not consistent. Comparing Set A against Set B, we observe no systematic advantage for either, on any function. So our answer to the research question is: semantic design is a measurable factor, but a secondary one. The first-order question is whether to use adaptive control at all; semantic refinement is a second-order tuning lever.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(Slide 14 — Conclusions and Future Work):</a:t>
            </a:r>
          </a:p>
          <a:p>
            <a:r>
              <a:t>To summarise the three key findings. First: baseline PSO is hard to beat on unimodal or structurally regular problems — adaptive inertia tends to disrupt rather than help. Second: on complex multimodal problems, fuzzy-controlled PSO does deliver a meaningful improvement in both average performance and robustness. Third: the semantic design of the controller — granularity and membership functions — is measurable, but it is a secondary effect compared to the binary decision of using adaptive control or not. Going forward, we plan to enrich the controller's inputs with additional search-process metrics, to design dynamic mechanisms that switch fuzzy configurations during the run, and to explore machine-learning-assisted meta-control, in line with recent work at the intersection of ML and metaheuristics.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SCRIPT (Slide 15 Q&amp;A):</a:t>
            </a:r>
          </a:p>
          <a:p>
            <a:r>
              <a:rPr dirty="0"/>
              <a:t>Thanks again to the OLA </a:t>
            </a:r>
            <a:r>
              <a:rPr dirty="0" err="1"/>
              <a:t>programme</a:t>
            </a:r>
            <a:r>
              <a:rPr dirty="0"/>
              <a:t> committee for the opportunity to present, and to all of you for your attention. I would be very happy to take questions now.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F1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a:extLst>
              <a:ext uri="{FF2B5EF4-FFF2-40B4-BE49-F238E27FC236}">
                <a16:creationId xmlns:a16="http://schemas.microsoft.com/office/drawing/2014/main" id="{4BBAC688-134B-803E-A97B-81F94BF3D714}"/>
              </a:ext>
            </a:extLst>
          </p:cNvPr>
          <p:cNvSpPr/>
          <p:nvPr/>
        </p:nvSpPr>
        <p:spPr>
          <a:xfrm>
            <a:off x="170329" y="3291840"/>
            <a:ext cx="11936974" cy="2216331"/>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640080" y="1188720"/>
            <a:ext cx="10972800" cy="1828800"/>
          </a:xfrm>
          <a:prstGeom prst="rect">
            <a:avLst/>
          </a:prstGeom>
          <a:noFill/>
        </p:spPr>
        <p:txBody>
          <a:bodyPr wrap="square">
            <a:spAutoFit/>
          </a:bodyPr>
          <a:lstStyle/>
          <a:p>
            <a:pPr algn="ctr"/>
            <a:r>
              <a:rPr sz="3600" b="1">
                <a:solidFill>
                  <a:srgbClr val="0B2E4F"/>
                </a:solidFill>
              </a:rPr>
              <a:t>On the Impact of Linguistic Granularity
and Fuzzy Semantic Design in
Particle Swarm Optimization</a:t>
            </a:r>
          </a:p>
        </p:txBody>
      </p:sp>
      <p:sp>
        <p:nvSpPr>
          <p:cNvPr id="3" name="TextBox 2"/>
          <p:cNvSpPr txBox="1"/>
          <p:nvPr/>
        </p:nvSpPr>
        <p:spPr>
          <a:xfrm>
            <a:off x="84697" y="3291840"/>
            <a:ext cx="12083565" cy="369332"/>
          </a:xfrm>
          <a:prstGeom prst="rect">
            <a:avLst/>
          </a:prstGeom>
          <a:noFill/>
        </p:spPr>
        <p:txBody>
          <a:bodyPr wrap="none">
            <a:spAutoFit/>
          </a:bodyPr>
          <a:lstStyle/>
          <a:p>
            <a:pPr algn="ctr"/>
            <a:r>
              <a:rPr dirty="0">
                <a:solidFill>
                  <a:srgbClr val="555555"/>
                </a:solidFill>
              </a:rPr>
              <a:t>José Barrera-García¹</a:t>
            </a:r>
            <a:r>
              <a:rPr lang="es-CL" baseline="30000" dirty="0">
                <a:solidFill>
                  <a:srgbClr val="555555"/>
                </a:solidFill>
              </a:rPr>
              <a:t>,</a:t>
            </a:r>
            <a:r>
              <a:rPr dirty="0">
                <a:solidFill>
                  <a:srgbClr val="555555"/>
                </a:solidFill>
              </a:rPr>
              <a:t>²  ·  Broderick Crawford¹  ·  Eric Monfroy³  ·  Felipe Cisternas-Caneo¹</a:t>
            </a:r>
            <a:r>
              <a:rPr lang="es-CL" baseline="30000" dirty="0">
                <a:solidFill>
                  <a:srgbClr val="555555"/>
                </a:solidFill>
              </a:rPr>
              <a:t>,</a:t>
            </a:r>
            <a:r>
              <a:rPr dirty="0">
                <a:solidFill>
                  <a:srgbClr val="555555"/>
                </a:solidFill>
              </a:rPr>
              <a:t>²  ·  Ricardo Soto¹  ·  Giovanni Giachetti⁴</a:t>
            </a:r>
          </a:p>
        </p:txBody>
      </p:sp>
      <p:sp>
        <p:nvSpPr>
          <p:cNvPr id="4" name="TextBox 3"/>
          <p:cNvSpPr txBox="1"/>
          <p:nvPr/>
        </p:nvSpPr>
        <p:spPr>
          <a:xfrm>
            <a:off x="640080" y="3931920"/>
            <a:ext cx="10972800" cy="1354217"/>
          </a:xfrm>
          <a:prstGeom prst="rect">
            <a:avLst/>
          </a:prstGeom>
          <a:noFill/>
        </p:spPr>
        <p:txBody>
          <a:bodyPr wrap="square">
            <a:spAutoFit/>
          </a:bodyPr>
          <a:lstStyle/>
          <a:p>
            <a:pPr algn="ctr">
              <a:spcAft>
                <a:spcPts val="400"/>
              </a:spcAft>
            </a:pPr>
            <a:r>
              <a:rPr dirty="0">
                <a:solidFill>
                  <a:srgbClr val="555555"/>
                </a:solidFill>
              </a:rPr>
              <a:t>¹ Pontificia Universidad Católica de Valparaíso, Chile</a:t>
            </a:r>
          </a:p>
          <a:p>
            <a:pPr algn="ctr">
              <a:spcAft>
                <a:spcPts val="400"/>
              </a:spcAft>
            </a:pPr>
            <a:r>
              <a:rPr dirty="0">
                <a:solidFill>
                  <a:srgbClr val="555555"/>
                </a:solidFill>
              </a:rPr>
              <a:t>² Universidad de Alcalá, Spain</a:t>
            </a:r>
          </a:p>
          <a:p>
            <a:pPr algn="ctr">
              <a:spcAft>
                <a:spcPts val="400"/>
              </a:spcAft>
            </a:pPr>
            <a:r>
              <a:rPr dirty="0">
                <a:solidFill>
                  <a:srgbClr val="555555"/>
                </a:solidFill>
              </a:rPr>
              <a:t>³ Université </a:t>
            </a:r>
            <a:r>
              <a:rPr dirty="0" err="1">
                <a:solidFill>
                  <a:srgbClr val="555555"/>
                </a:solidFill>
              </a:rPr>
              <a:t>d'Angers</a:t>
            </a:r>
            <a:r>
              <a:rPr dirty="0">
                <a:solidFill>
                  <a:srgbClr val="555555"/>
                </a:solidFill>
              </a:rPr>
              <a:t>, LERIA, France</a:t>
            </a:r>
          </a:p>
          <a:p>
            <a:pPr algn="ctr">
              <a:spcAft>
                <a:spcPts val="400"/>
              </a:spcAft>
            </a:pPr>
            <a:r>
              <a:rPr dirty="0">
                <a:solidFill>
                  <a:srgbClr val="555555"/>
                </a:solidFill>
              </a:rPr>
              <a:t>⁴ Universidad Andrés Bello, Chile</a:t>
            </a:r>
          </a:p>
        </p:txBody>
      </p:sp>
      <p:sp>
        <p:nvSpPr>
          <p:cNvPr id="5" name="TextBox 4"/>
          <p:cNvSpPr txBox="1"/>
          <p:nvPr/>
        </p:nvSpPr>
        <p:spPr>
          <a:xfrm>
            <a:off x="2420594" y="6035040"/>
            <a:ext cx="7411773" cy="400110"/>
          </a:xfrm>
          <a:prstGeom prst="rect">
            <a:avLst/>
          </a:prstGeom>
          <a:noFill/>
        </p:spPr>
        <p:txBody>
          <a:bodyPr wrap="none">
            <a:spAutoFit/>
          </a:bodyPr>
          <a:lstStyle/>
          <a:p>
            <a:pPr algn="ctr"/>
            <a:r>
              <a:rPr sz="2000" b="1" dirty="0">
                <a:solidFill>
                  <a:srgbClr val="C0392B"/>
                </a:solidFill>
              </a:rPr>
              <a:t>OLA 2026 — International Conference on Optimization and Learning</a:t>
            </a:r>
          </a:p>
        </p:txBody>
      </p:sp>
      <p:sp>
        <p:nvSpPr>
          <p:cNvPr id="6" name="Shape 0">
            <a:extLst>
              <a:ext uri="{FF2B5EF4-FFF2-40B4-BE49-F238E27FC236}">
                <a16:creationId xmlns:a16="http://schemas.microsoft.com/office/drawing/2014/main" id="{D1C62537-1C71-0EEC-88D5-D185D02FF303}"/>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Summary</a:t>
            </a:r>
          </a:p>
        </p:txBody>
      </p:sp>
      <p:sp>
        <p:nvSpPr>
          <p:cNvPr id="7" name="Shape 4">
            <a:extLst>
              <a:ext uri="{FF2B5EF4-FFF2-40B4-BE49-F238E27FC236}">
                <a16:creationId xmlns:a16="http://schemas.microsoft.com/office/drawing/2014/main" id="{8C046BCA-898B-F382-663E-2463B3D3BB2B}"/>
              </a:ext>
            </a:extLst>
          </p:cNvPr>
          <p:cNvSpPr/>
          <p:nvPr/>
        </p:nvSpPr>
        <p:spPr>
          <a:xfrm>
            <a:off x="658367" y="1554480"/>
            <a:ext cx="10484761" cy="3847207"/>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3" name="TextBox 2"/>
          <p:cNvSpPr txBox="1"/>
          <p:nvPr/>
        </p:nvSpPr>
        <p:spPr>
          <a:xfrm>
            <a:off x="457200" y="960120"/>
            <a:ext cx="11247120" cy="457200"/>
          </a:xfrm>
          <a:prstGeom prst="rect">
            <a:avLst/>
          </a:prstGeom>
          <a:noFill/>
        </p:spPr>
        <p:txBody>
          <a:bodyPr wrap="none">
            <a:spAutoFit/>
          </a:bodyPr>
          <a:lstStyle/>
          <a:p>
            <a:r>
              <a:rPr sz="1600" i="1">
                <a:solidFill>
                  <a:srgbClr val="555555"/>
                </a:solidFill>
              </a:rPr>
              <a:t>Question: how much does the semantic design of a fuzzy controller actually matter in PSO?</a:t>
            </a:r>
          </a:p>
        </p:txBody>
      </p:sp>
      <p:sp>
        <p:nvSpPr>
          <p:cNvPr id="4" name="TextBox 3"/>
          <p:cNvSpPr txBox="1"/>
          <p:nvPr/>
        </p:nvSpPr>
        <p:spPr>
          <a:xfrm>
            <a:off x="640080" y="1554480"/>
            <a:ext cx="10972800" cy="3847207"/>
          </a:xfrm>
          <a:prstGeom prst="rect">
            <a:avLst/>
          </a:prstGeom>
          <a:noFill/>
        </p:spPr>
        <p:txBody>
          <a:bodyPr wrap="square">
            <a:spAutoFit/>
          </a:bodyPr>
          <a:lstStyle/>
          <a:p>
            <a:pPr marL="342900" indent="-342900" algn="l">
              <a:spcAft>
                <a:spcPts val="800"/>
              </a:spcAft>
              <a:buFont typeface="Wingdings" panose="05000000000000000000" pitchFamily="2" charset="2"/>
              <a:buChar char="§"/>
            </a:pPr>
            <a:r>
              <a:rPr sz="2800" dirty="0">
                <a:solidFill>
                  <a:srgbClr val="0B2E4F"/>
                </a:solidFill>
              </a:rPr>
              <a:t>The performance of fuzzy-controlled PSO depends on design choices often treated as secondary.</a:t>
            </a:r>
          </a:p>
          <a:p>
            <a:pPr marL="342900" indent="-342900" algn="l">
              <a:spcAft>
                <a:spcPts val="800"/>
              </a:spcAft>
              <a:buFont typeface="Wingdings" panose="05000000000000000000" pitchFamily="2" charset="2"/>
              <a:buChar char="§"/>
            </a:pPr>
            <a:r>
              <a:rPr sz="2800" dirty="0">
                <a:solidFill>
                  <a:srgbClr val="0B2E4F"/>
                </a:solidFill>
              </a:rPr>
              <a:t>Linguistic granularity and membership-function design are rarely analyzed explicitly.</a:t>
            </a:r>
          </a:p>
          <a:p>
            <a:pPr marL="342900" indent="-342900" algn="l">
              <a:spcAft>
                <a:spcPts val="800"/>
              </a:spcAft>
              <a:buFont typeface="Wingdings" panose="05000000000000000000" pitchFamily="2" charset="2"/>
              <a:buChar char="§"/>
            </a:pPr>
            <a:r>
              <a:rPr sz="2800" dirty="0">
                <a:solidFill>
                  <a:srgbClr val="0B2E4F"/>
                </a:solidFill>
              </a:rPr>
              <a:t>Experimental study: three- and five-label schemes under identical control logic (inputs: iteration progress + diversity).</a:t>
            </a:r>
          </a:p>
          <a:p>
            <a:pPr marL="342900" indent="-342900" algn="l">
              <a:spcAft>
                <a:spcPts val="800"/>
              </a:spcAft>
              <a:buFont typeface="Wingdings" panose="05000000000000000000" pitchFamily="2" charset="2"/>
              <a:buChar char="§"/>
            </a:pPr>
            <a:r>
              <a:rPr sz="2800" dirty="0">
                <a:solidFill>
                  <a:srgbClr val="0B2E4F"/>
                </a:solidFill>
              </a:rPr>
              <a:t>Finding: fuzzy control improves robustness in complex multimodal landscapes; it provides no benefit on unimodal or regular problems.</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8EBBE8EB-7F79-CD2D-4AF6-05EA4A5A5342}"/>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Motivation</a:t>
            </a:r>
          </a:p>
        </p:txBody>
      </p:sp>
      <p:sp>
        <p:nvSpPr>
          <p:cNvPr id="7" name="Shape 4">
            <a:extLst>
              <a:ext uri="{FF2B5EF4-FFF2-40B4-BE49-F238E27FC236}">
                <a16:creationId xmlns:a16="http://schemas.microsoft.com/office/drawing/2014/main" id="{FD4D281D-9105-831D-3597-2B28044A6C20}"/>
              </a:ext>
            </a:extLst>
          </p:cNvPr>
          <p:cNvSpPr/>
          <p:nvPr/>
        </p:nvSpPr>
        <p:spPr>
          <a:xfrm>
            <a:off x="658367" y="1554480"/>
            <a:ext cx="10738976" cy="3847207"/>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3" name="TextBox 2"/>
          <p:cNvSpPr txBox="1"/>
          <p:nvPr/>
        </p:nvSpPr>
        <p:spPr>
          <a:xfrm>
            <a:off x="640080" y="1554480"/>
            <a:ext cx="10972800" cy="3395801"/>
          </a:xfrm>
          <a:prstGeom prst="rect">
            <a:avLst/>
          </a:prstGeom>
          <a:noFill/>
        </p:spPr>
        <p:txBody>
          <a:bodyPr wrap="square">
            <a:spAutoFit/>
          </a:bodyPr>
          <a:lstStyle/>
          <a:p>
            <a:pPr marL="342900" indent="-342900" algn="l">
              <a:spcAft>
                <a:spcPts val="800"/>
              </a:spcAft>
              <a:buFont typeface="Wingdings" panose="05000000000000000000" pitchFamily="2" charset="2"/>
              <a:buChar char="§"/>
            </a:pPr>
            <a:r>
              <a:rPr sz="2400" dirty="0">
                <a:solidFill>
                  <a:srgbClr val="0B2E4F"/>
                </a:solidFill>
              </a:rPr>
              <a:t>PSO performance depends on the exploration–exploitation balance, regulated by the inertia weight w [1, 2].</a:t>
            </a:r>
          </a:p>
          <a:p>
            <a:pPr marL="342900" indent="-342900" algn="l">
              <a:spcAft>
                <a:spcPts val="800"/>
              </a:spcAft>
              <a:buFont typeface="Wingdings" panose="05000000000000000000" pitchFamily="2" charset="2"/>
              <a:buChar char="§"/>
            </a:pPr>
            <a:r>
              <a:rPr sz="2400" dirty="0">
                <a:solidFill>
                  <a:srgbClr val="0B2E4F"/>
                </a:solidFill>
              </a:rPr>
              <a:t>Fuzzy control adapts w using qualitative descriptions of the search state [3].</a:t>
            </a:r>
          </a:p>
          <a:p>
            <a:pPr marL="342900" indent="-342900" algn="l">
              <a:spcAft>
                <a:spcPts val="800"/>
              </a:spcAft>
              <a:buFont typeface="Wingdings" panose="05000000000000000000" pitchFamily="2" charset="2"/>
              <a:buChar char="§"/>
            </a:pPr>
            <a:r>
              <a:rPr sz="2400" dirty="0">
                <a:solidFill>
                  <a:srgbClr val="0B2E4F"/>
                </a:solidFill>
              </a:rPr>
              <a:t>Most fuzzy-PSO variants fix linguistic partitions and membership functions a priori, with no semantic analysis.</a:t>
            </a:r>
          </a:p>
          <a:p>
            <a:pPr marL="342900" indent="-342900" algn="l">
              <a:spcAft>
                <a:spcPts val="800"/>
              </a:spcAft>
              <a:buFont typeface="Wingdings" panose="05000000000000000000" pitchFamily="2" charset="2"/>
              <a:buChar char="§"/>
            </a:pPr>
            <a:r>
              <a:rPr sz="2400" dirty="0">
                <a:solidFill>
                  <a:srgbClr val="0B2E4F"/>
                </a:solidFill>
              </a:rPr>
              <a:t>Research question: to what extent do different fuzzy schemes — under identical logic — change performance across landscapes?</a:t>
            </a:r>
          </a:p>
          <a:p>
            <a:pPr marL="742950" lvl="1" indent="-285750" algn="l">
              <a:spcAft>
                <a:spcPts val="800"/>
              </a:spcAft>
              <a:buFont typeface="Wingdings" panose="05000000000000000000" pitchFamily="2" charset="2"/>
              <a:buChar char="§"/>
            </a:pPr>
            <a:r>
              <a:rPr sz="2000" dirty="0">
                <a:solidFill>
                  <a:srgbClr val="7030A0"/>
                </a:solidFill>
              </a:rPr>
              <a:t>Contribution: not a new algorithm. We isolate and measure the effect of fuzzy semantic design.</a:t>
            </a:r>
          </a:p>
        </p:txBody>
      </p:sp>
      <p:sp>
        <p:nvSpPr>
          <p:cNvPr id="4" name="TextBox 3"/>
          <p:cNvSpPr txBox="1"/>
          <p:nvPr/>
        </p:nvSpPr>
        <p:spPr>
          <a:xfrm>
            <a:off x="274320" y="6492240"/>
            <a:ext cx="8686800" cy="320040"/>
          </a:xfrm>
          <a:prstGeom prst="rect">
            <a:avLst/>
          </a:prstGeom>
          <a:noFill/>
        </p:spPr>
        <p:txBody>
          <a:bodyPr wrap="none">
            <a:spAutoFit/>
          </a:bodyPr>
          <a:lstStyle/>
          <a:p>
            <a:pPr algn="l"/>
            <a:r>
              <a:rPr sz="900" i="1">
                <a:solidFill>
                  <a:srgbClr val="888888"/>
                </a:solidFill>
              </a:rPr>
              <a:t>[1] Kennedy &amp; Eberhart, ICNN 1995  ·  [2] Shi &amp; Eberhart, IEEE WCCI 1998  ·  [3] Shi &amp; Eberhart, FUZZ-IEEE 2001</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9F4C3D9D-F106-0A9A-4FE4-9BBB73684A93}"/>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Related Work</a:t>
            </a:r>
          </a:p>
        </p:txBody>
      </p:sp>
      <p:sp>
        <p:nvSpPr>
          <p:cNvPr id="4" name="TextBox 3"/>
          <p:cNvSpPr txBox="1"/>
          <p:nvPr/>
        </p:nvSpPr>
        <p:spPr>
          <a:xfrm>
            <a:off x="274320" y="6492240"/>
            <a:ext cx="8686800" cy="320040"/>
          </a:xfrm>
          <a:prstGeom prst="rect">
            <a:avLst/>
          </a:prstGeom>
          <a:noFill/>
        </p:spPr>
        <p:txBody>
          <a:bodyPr wrap="none">
            <a:spAutoFit/>
          </a:bodyPr>
          <a:lstStyle/>
          <a:p>
            <a:pPr algn="l"/>
            <a:r>
              <a:rPr sz="900" i="1">
                <a:solidFill>
                  <a:srgbClr val="888888"/>
                </a:solidFill>
              </a:rPr>
              <a:t>[3] Shi &amp; Eberhart 2001  ·  [4] Nobile et al. 2018  ·  [5] Xia et al. 2022  ·  [6] Komarudin et al. 2021  ·  [7] Olivas et al. 2014  ·  [8] Huang 2022  ·  [9] Zhang 2022  ·  [10] Zhao 2021</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4025056B-F03C-D13A-311D-740250467360}"/>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
        <p:nvSpPr>
          <p:cNvPr id="7" name="Shape 4">
            <a:extLst>
              <a:ext uri="{FF2B5EF4-FFF2-40B4-BE49-F238E27FC236}">
                <a16:creationId xmlns:a16="http://schemas.microsoft.com/office/drawing/2014/main" id="{B4712787-0E37-DAA0-CDFF-684B39D62167}"/>
              </a:ext>
            </a:extLst>
          </p:cNvPr>
          <p:cNvSpPr/>
          <p:nvPr/>
        </p:nvSpPr>
        <p:spPr>
          <a:xfrm>
            <a:off x="658367" y="1554480"/>
            <a:ext cx="10738976" cy="3496491"/>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3" name="TextBox 2"/>
          <p:cNvSpPr txBox="1"/>
          <p:nvPr/>
        </p:nvSpPr>
        <p:spPr>
          <a:xfrm>
            <a:off x="640080" y="1554480"/>
            <a:ext cx="10738976" cy="3354765"/>
          </a:xfrm>
          <a:prstGeom prst="rect">
            <a:avLst/>
          </a:prstGeom>
          <a:noFill/>
        </p:spPr>
        <p:txBody>
          <a:bodyPr wrap="square">
            <a:spAutoFit/>
          </a:bodyPr>
          <a:lstStyle/>
          <a:p>
            <a:pPr marL="285750" indent="-285750" algn="l">
              <a:spcAft>
                <a:spcPts val="800"/>
              </a:spcAft>
              <a:buFont typeface="Wingdings" panose="05000000000000000000" pitchFamily="2" charset="2"/>
              <a:buChar char="§"/>
            </a:pPr>
            <a:r>
              <a:rPr sz="2400" dirty="0">
                <a:solidFill>
                  <a:srgbClr val="0B2E4F"/>
                </a:solidFill>
              </a:rPr>
              <a:t>Fuzzy adaptation in PSO: Shi &amp; Eberhart [3] (seminal); Nobile et al. [4] FST-PSO; Xia et al. [5] MIMO fuzzy; </a:t>
            </a:r>
            <a:r>
              <a:rPr sz="2400" dirty="0" err="1">
                <a:solidFill>
                  <a:srgbClr val="0B2E4F"/>
                </a:solidFill>
              </a:rPr>
              <a:t>Komarudin</a:t>
            </a:r>
            <a:r>
              <a:rPr sz="2400" dirty="0">
                <a:solidFill>
                  <a:srgbClr val="0B2E4F"/>
                </a:solidFill>
              </a:rPr>
              <a:t> et al. [6] fuzzy signatures.</a:t>
            </a:r>
          </a:p>
          <a:p>
            <a:pPr marL="285750" indent="-285750" algn="l">
              <a:spcAft>
                <a:spcPts val="800"/>
              </a:spcAft>
              <a:buFont typeface="Wingdings" panose="05000000000000000000" pitchFamily="2" charset="2"/>
              <a:buChar char="§"/>
            </a:pPr>
            <a:r>
              <a:rPr sz="2400" dirty="0">
                <a:solidFill>
                  <a:srgbClr val="0B2E4F"/>
                </a:solidFill>
              </a:rPr>
              <a:t>Membership-function design: Olivas et al. [7] — different shapes give significant differences with the same rule base.</a:t>
            </a:r>
          </a:p>
          <a:p>
            <a:pPr marL="285750" indent="-285750" algn="l">
              <a:spcAft>
                <a:spcPts val="800"/>
              </a:spcAft>
              <a:buFont typeface="Wingdings" panose="05000000000000000000" pitchFamily="2" charset="2"/>
              <a:buChar char="§"/>
            </a:pPr>
            <a:r>
              <a:rPr sz="2400" dirty="0">
                <a:solidFill>
                  <a:srgbClr val="0B2E4F"/>
                </a:solidFill>
              </a:rPr>
              <a:t>Linguistic granularity &amp; granular computing: Huang [8], Zhang [9], Zhao [10] — semantic resolution is not a neutral choice.</a:t>
            </a:r>
          </a:p>
          <a:p>
            <a:pPr marL="285750" indent="-285750" algn="l">
              <a:spcAft>
                <a:spcPts val="800"/>
              </a:spcAft>
              <a:buFont typeface="Wingdings" panose="05000000000000000000" pitchFamily="2" charset="2"/>
              <a:buChar char="§"/>
            </a:pPr>
            <a:r>
              <a:rPr sz="2400" dirty="0">
                <a:solidFill>
                  <a:srgbClr val="0B2E4F"/>
                </a:solidFill>
              </a:rPr>
              <a:t>Positioning: </a:t>
            </a:r>
            <a:r>
              <a:rPr sz="2400" dirty="0">
                <a:solidFill>
                  <a:srgbClr val="7030A0"/>
                </a:solidFill>
              </a:rPr>
              <a:t>linguistic granularity is rarely an explicit experimental factor in PSO. This work fills that gap.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a:extLst>
              <a:ext uri="{FF2B5EF4-FFF2-40B4-BE49-F238E27FC236}">
                <a16:creationId xmlns:a16="http://schemas.microsoft.com/office/drawing/2014/main" id="{3E876677-093E-4673-A7C7-200B4620630D}"/>
              </a:ext>
            </a:extLst>
          </p:cNvPr>
          <p:cNvSpPr/>
          <p:nvPr/>
        </p:nvSpPr>
        <p:spPr>
          <a:xfrm>
            <a:off x="658367" y="1554480"/>
            <a:ext cx="10738976" cy="3847207"/>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Baseline Particle Swarm Optimization</a:t>
            </a:r>
          </a:p>
        </p:txBody>
      </p:sp>
      <p:sp>
        <p:nvSpPr>
          <p:cNvPr id="3" name="TextBox 2"/>
          <p:cNvSpPr txBox="1"/>
          <p:nvPr/>
        </p:nvSpPr>
        <p:spPr>
          <a:xfrm>
            <a:off x="640080" y="2018588"/>
            <a:ext cx="10738976" cy="769441"/>
          </a:xfrm>
          <a:prstGeom prst="rect">
            <a:avLst/>
          </a:prstGeom>
          <a:noFill/>
        </p:spPr>
        <p:txBody>
          <a:bodyPr wrap="square">
            <a:spAutoFit/>
          </a:bodyPr>
          <a:lstStyle/>
          <a:p>
            <a:pPr algn="ctr"/>
            <a:r>
              <a:rPr sz="2200" dirty="0" err="1">
                <a:solidFill>
                  <a:srgbClr val="0B2E4F"/>
                </a:solidFill>
                <a:latin typeface="Cambria Math"/>
              </a:rPr>
              <a:t>v_i</a:t>
            </a:r>
            <a:r>
              <a:rPr sz="2200" dirty="0">
                <a:solidFill>
                  <a:srgbClr val="0B2E4F"/>
                </a:solidFill>
                <a:latin typeface="Cambria Math"/>
              </a:rPr>
              <a:t>(t+1) = w · </a:t>
            </a:r>
            <a:r>
              <a:rPr sz="2200" dirty="0" err="1">
                <a:solidFill>
                  <a:srgbClr val="0B2E4F"/>
                </a:solidFill>
                <a:latin typeface="Cambria Math"/>
              </a:rPr>
              <a:t>v_i</a:t>
            </a:r>
            <a:r>
              <a:rPr sz="2200" dirty="0">
                <a:solidFill>
                  <a:srgbClr val="0B2E4F"/>
                </a:solidFill>
                <a:latin typeface="Cambria Math"/>
              </a:rPr>
              <a:t>(t) + c₁ r₁ (</a:t>
            </a:r>
            <a:r>
              <a:rPr sz="2200" dirty="0" err="1">
                <a:solidFill>
                  <a:srgbClr val="0B2E4F"/>
                </a:solidFill>
                <a:latin typeface="Cambria Math"/>
              </a:rPr>
              <a:t>p_i</a:t>
            </a:r>
            <a:r>
              <a:rPr sz="2200" dirty="0">
                <a:solidFill>
                  <a:srgbClr val="0B2E4F"/>
                </a:solidFill>
                <a:latin typeface="Cambria Math"/>
              </a:rPr>
              <a:t> − </a:t>
            </a:r>
            <a:r>
              <a:rPr sz="2200" dirty="0" err="1">
                <a:solidFill>
                  <a:srgbClr val="0B2E4F"/>
                </a:solidFill>
                <a:latin typeface="Cambria Math"/>
              </a:rPr>
              <a:t>x_i</a:t>
            </a:r>
            <a:r>
              <a:rPr sz="2200" dirty="0">
                <a:solidFill>
                  <a:srgbClr val="0B2E4F"/>
                </a:solidFill>
                <a:latin typeface="Cambria Math"/>
              </a:rPr>
              <a:t>(t)) + c₂ r₂ (g − </a:t>
            </a:r>
            <a:r>
              <a:rPr sz="2200" dirty="0" err="1">
                <a:solidFill>
                  <a:srgbClr val="0B2E4F"/>
                </a:solidFill>
                <a:latin typeface="Cambria Math"/>
              </a:rPr>
              <a:t>x_i</a:t>
            </a:r>
            <a:r>
              <a:rPr sz="2200" dirty="0">
                <a:solidFill>
                  <a:srgbClr val="0B2E4F"/>
                </a:solidFill>
                <a:latin typeface="Cambria Math"/>
              </a:rPr>
              <a:t>(t))</a:t>
            </a:r>
          </a:p>
          <a:p>
            <a:pPr algn="ctr"/>
            <a:r>
              <a:rPr sz="2200" dirty="0" err="1">
                <a:solidFill>
                  <a:srgbClr val="0B2E4F"/>
                </a:solidFill>
                <a:latin typeface="Cambria Math"/>
              </a:rPr>
              <a:t>x_i</a:t>
            </a:r>
            <a:r>
              <a:rPr sz="2200" dirty="0">
                <a:solidFill>
                  <a:srgbClr val="0B2E4F"/>
                </a:solidFill>
                <a:latin typeface="Cambria Math"/>
              </a:rPr>
              <a:t>(t+1) = </a:t>
            </a:r>
            <a:r>
              <a:rPr sz="2200" dirty="0" err="1">
                <a:solidFill>
                  <a:srgbClr val="0B2E4F"/>
                </a:solidFill>
                <a:latin typeface="Cambria Math"/>
              </a:rPr>
              <a:t>x_i</a:t>
            </a:r>
            <a:r>
              <a:rPr sz="2200" dirty="0">
                <a:solidFill>
                  <a:srgbClr val="0B2E4F"/>
                </a:solidFill>
                <a:latin typeface="Cambria Math"/>
              </a:rPr>
              <a:t>(t) + </a:t>
            </a:r>
            <a:r>
              <a:rPr sz="2200" dirty="0" err="1">
                <a:solidFill>
                  <a:srgbClr val="0B2E4F"/>
                </a:solidFill>
                <a:latin typeface="Cambria Math"/>
              </a:rPr>
              <a:t>v_i</a:t>
            </a:r>
            <a:r>
              <a:rPr sz="2200" dirty="0">
                <a:solidFill>
                  <a:srgbClr val="0B2E4F"/>
                </a:solidFill>
                <a:latin typeface="Cambria Math"/>
              </a:rPr>
              <a:t>(t+1)</a:t>
            </a:r>
          </a:p>
        </p:txBody>
      </p:sp>
      <p:sp>
        <p:nvSpPr>
          <p:cNvPr id="4" name="TextBox 3"/>
          <p:cNvSpPr txBox="1"/>
          <p:nvPr/>
        </p:nvSpPr>
        <p:spPr>
          <a:xfrm>
            <a:off x="640080" y="3657600"/>
            <a:ext cx="10972800" cy="1405513"/>
          </a:xfrm>
          <a:prstGeom prst="rect">
            <a:avLst/>
          </a:prstGeom>
          <a:noFill/>
        </p:spPr>
        <p:txBody>
          <a:bodyPr wrap="square">
            <a:spAutoFit/>
          </a:bodyPr>
          <a:lstStyle/>
          <a:p>
            <a:pPr marL="285750" indent="-285750" algn="l">
              <a:spcAft>
                <a:spcPts val="800"/>
              </a:spcAft>
              <a:buFont typeface="Wingdings" panose="05000000000000000000" pitchFamily="2" charset="2"/>
              <a:buChar char="§"/>
            </a:pPr>
            <a:r>
              <a:rPr sz="2400" dirty="0">
                <a:solidFill>
                  <a:srgbClr val="0B2E4F"/>
                </a:solidFill>
              </a:rPr>
              <a:t>Baseline inertia: linear decreasing schedule, 0.9 → 0.1 [11].</a:t>
            </a:r>
          </a:p>
          <a:p>
            <a:pPr marL="285750" indent="-285750" algn="l">
              <a:spcAft>
                <a:spcPts val="800"/>
              </a:spcAft>
              <a:buFont typeface="Wingdings" panose="05000000000000000000" pitchFamily="2" charset="2"/>
              <a:buChar char="§"/>
            </a:pPr>
            <a:r>
              <a:rPr sz="2400" dirty="0">
                <a:solidFill>
                  <a:srgbClr val="0B2E4F"/>
                </a:solidFill>
              </a:rPr>
              <a:t>All other PSO parameters identical across variants — controlled comparison.</a:t>
            </a:r>
          </a:p>
          <a:p>
            <a:pPr marL="285750" indent="-285750" algn="l">
              <a:spcAft>
                <a:spcPts val="800"/>
              </a:spcAft>
              <a:buFont typeface="Wingdings" panose="05000000000000000000" pitchFamily="2" charset="2"/>
              <a:buChar char="§"/>
            </a:pPr>
            <a:r>
              <a:rPr sz="2400" dirty="0">
                <a:solidFill>
                  <a:srgbClr val="0B2E4F"/>
                </a:solidFill>
              </a:rPr>
              <a:t>Serves as the reference to assess the effect of fuzzy adaptation of w.</a:t>
            </a:r>
          </a:p>
        </p:txBody>
      </p:sp>
      <p:sp>
        <p:nvSpPr>
          <p:cNvPr id="5" name="TextBox 4"/>
          <p:cNvSpPr txBox="1"/>
          <p:nvPr/>
        </p:nvSpPr>
        <p:spPr>
          <a:xfrm>
            <a:off x="274320" y="6492240"/>
            <a:ext cx="8686800" cy="320040"/>
          </a:xfrm>
          <a:prstGeom prst="rect">
            <a:avLst/>
          </a:prstGeom>
          <a:noFill/>
        </p:spPr>
        <p:txBody>
          <a:bodyPr wrap="none">
            <a:spAutoFit/>
          </a:bodyPr>
          <a:lstStyle/>
          <a:p>
            <a:pPr algn="l"/>
            <a:r>
              <a:rPr sz="900" i="1">
                <a:solidFill>
                  <a:srgbClr val="888888"/>
                </a:solidFill>
              </a:rPr>
              <a:t>[11] Abualigah et al., Computers &amp; Industrial Engineering 2021</a:t>
            </a:r>
          </a:p>
        </p:txBody>
      </p:sp>
      <p:sp>
        <p:nvSpPr>
          <p:cNvPr id="6" name="TextBox 5"/>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7" name="Shape 0">
            <a:extLst>
              <a:ext uri="{FF2B5EF4-FFF2-40B4-BE49-F238E27FC236}">
                <a16:creationId xmlns:a16="http://schemas.microsoft.com/office/drawing/2014/main" id="{AB9928A7-77F2-B5F4-01E3-DD3219A74A0A}"/>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Fuzzy Controller for Inertia Weight Adaptation</a:t>
            </a:r>
          </a:p>
        </p:txBody>
      </p:sp>
      <p:sp>
        <p:nvSpPr>
          <p:cNvPr id="4" name="TextBox 3"/>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10" name="Shape 4">
            <a:extLst>
              <a:ext uri="{FF2B5EF4-FFF2-40B4-BE49-F238E27FC236}">
                <a16:creationId xmlns:a16="http://schemas.microsoft.com/office/drawing/2014/main" id="{B2C52639-9F21-4508-8934-B4C5BF5A71AB}"/>
              </a:ext>
            </a:extLst>
          </p:cNvPr>
          <p:cNvSpPr/>
          <p:nvPr/>
        </p:nvSpPr>
        <p:spPr>
          <a:xfrm>
            <a:off x="2038992" y="3849976"/>
            <a:ext cx="8114016" cy="2357255"/>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grpSp>
        <p:nvGrpSpPr>
          <p:cNvPr id="8" name="Grupo 7">
            <a:extLst>
              <a:ext uri="{FF2B5EF4-FFF2-40B4-BE49-F238E27FC236}">
                <a16:creationId xmlns:a16="http://schemas.microsoft.com/office/drawing/2014/main" id="{C2F1F817-6043-4A6F-C6AF-2A09B16426E3}"/>
              </a:ext>
            </a:extLst>
          </p:cNvPr>
          <p:cNvGrpSpPr/>
          <p:nvPr/>
        </p:nvGrpSpPr>
        <p:grpSpPr>
          <a:xfrm>
            <a:off x="2590800" y="3849976"/>
            <a:ext cx="7010400" cy="1887696"/>
            <a:chOff x="2859741" y="3849976"/>
            <a:chExt cx="7010400" cy="1887696"/>
          </a:xfrm>
        </p:grpSpPr>
        <p:sp>
          <p:nvSpPr>
            <p:cNvPr id="3" name="TextBox 2"/>
            <p:cNvSpPr txBox="1"/>
            <p:nvPr/>
          </p:nvSpPr>
          <p:spPr>
            <a:xfrm>
              <a:off x="2859741" y="3849976"/>
              <a:ext cx="7010400" cy="1887696"/>
            </a:xfrm>
            <a:prstGeom prst="rect">
              <a:avLst/>
            </a:prstGeom>
            <a:noFill/>
          </p:spPr>
          <p:txBody>
            <a:bodyPr wrap="square">
              <a:spAutoFit/>
            </a:bodyPr>
            <a:lstStyle/>
            <a:p>
              <a:pPr marL="285750" indent="-285750" algn="l">
                <a:spcAft>
                  <a:spcPts val="800"/>
                </a:spcAft>
                <a:buFont typeface="Arial" panose="020B0604020202020204" pitchFamily="34" charset="0"/>
                <a:buChar char="•"/>
              </a:pPr>
              <a:r>
                <a:rPr sz="1800" dirty="0">
                  <a:solidFill>
                    <a:srgbClr val="0B2E4F"/>
                  </a:solidFill>
                </a:rPr>
                <a:t>Mamdani-type FIS, evaluated ONCE per iteration at the swarm level.</a:t>
              </a:r>
            </a:p>
            <a:p>
              <a:pPr marL="285750" indent="-285750" algn="l">
                <a:spcAft>
                  <a:spcPts val="800"/>
                </a:spcAft>
                <a:buFont typeface="Arial" panose="020B0604020202020204" pitchFamily="34" charset="0"/>
                <a:buChar char="•"/>
              </a:pPr>
              <a:r>
                <a:rPr sz="1800" dirty="0">
                  <a:solidFill>
                    <a:srgbClr val="0B2E4F"/>
                  </a:solidFill>
                </a:rPr>
                <a:t>Input 1 — Iteration progress:   </a:t>
              </a:r>
              <a:endParaRPr lang="es-CL" sz="1800" dirty="0">
                <a:solidFill>
                  <a:srgbClr val="0B2E4F"/>
                </a:solidFill>
              </a:endParaRPr>
            </a:p>
            <a:p>
              <a:pPr marL="285750" indent="-285750" algn="l">
                <a:spcAft>
                  <a:spcPts val="800"/>
                </a:spcAft>
                <a:buFont typeface="Arial" panose="020B0604020202020204" pitchFamily="34" charset="0"/>
                <a:buChar char="•"/>
              </a:pPr>
              <a:r>
                <a:rPr sz="1800" dirty="0">
                  <a:solidFill>
                    <a:srgbClr val="0B2E4F"/>
                  </a:solidFill>
                </a:rPr>
                <a:t>Input 2 — Population diversity (per-dimension, normalized):</a:t>
              </a:r>
              <a:endParaRPr lang="es-CL" sz="1800" dirty="0">
                <a:solidFill>
                  <a:srgbClr val="0B2E4F"/>
                </a:solidFill>
              </a:endParaRPr>
            </a:p>
            <a:p>
              <a:pPr marL="742950" lvl="1" indent="-285750">
                <a:spcAft>
                  <a:spcPts val="800"/>
                </a:spcAft>
                <a:buFont typeface="Arial" panose="020B0604020202020204" pitchFamily="34" charset="0"/>
                <a:buChar char="•"/>
              </a:pPr>
              <a:r>
                <a:rPr lang="es-CL" dirty="0">
                  <a:solidFill>
                    <a:srgbClr val="0B2E4F"/>
                  </a:solidFill>
                </a:rPr>
                <a:t> </a:t>
              </a:r>
              <a:endParaRPr dirty="0">
                <a:solidFill>
                  <a:srgbClr val="0B2E4F"/>
                </a:solidFill>
              </a:endParaRPr>
            </a:p>
            <a:p>
              <a:pPr marL="285750" indent="-285750" algn="l">
                <a:spcAft>
                  <a:spcPts val="800"/>
                </a:spcAft>
                <a:buFont typeface="Arial" panose="020B0604020202020204" pitchFamily="34" charset="0"/>
                <a:buChar char="•"/>
              </a:pPr>
              <a:r>
                <a:rPr sz="1800" dirty="0">
                  <a:solidFill>
                    <a:srgbClr val="0B2E4F"/>
                  </a:solidFill>
                </a:rPr>
                <a:t>Output: </a:t>
              </a:r>
              <a:r>
                <a:rPr sz="1800" dirty="0" err="1">
                  <a:solidFill>
                    <a:srgbClr val="0B2E4F"/>
                  </a:solidFill>
                </a:rPr>
                <a:t>w_t</a:t>
              </a:r>
              <a:r>
                <a:rPr sz="1800" dirty="0">
                  <a:solidFill>
                    <a:srgbClr val="0B2E4F"/>
                  </a:solidFill>
                </a:rPr>
                <a:t> ∈ [</a:t>
              </a:r>
              <a:r>
                <a:rPr sz="1800" dirty="0" err="1">
                  <a:solidFill>
                    <a:srgbClr val="0B2E4F"/>
                  </a:solidFill>
                </a:rPr>
                <a:t>w_min</a:t>
              </a:r>
              <a:r>
                <a:rPr sz="1800" dirty="0">
                  <a:solidFill>
                    <a:srgbClr val="0B2E4F"/>
                  </a:solidFill>
                </a:rPr>
                <a:t>, </a:t>
              </a:r>
              <a:r>
                <a:rPr sz="1800" dirty="0" err="1">
                  <a:solidFill>
                    <a:srgbClr val="0B2E4F"/>
                  </a:solidFill>
                </a:rPr>
                <a:t>w_max</a:t>
              </a:r>
              <a:r>
                <a:rPr sz="1800" dirty="0">
                  <a:solidFill>
                    <a:srgbClr val="0B2E4F"/>
                  </a:solidFill>
                </a:rPr>
                <a:t>];   defuzzification by centroid.</a:t>
              </a:r>
            </a:p>
          </p:txBody>
        </p:sp>
        <p:pic>
          <p:nvPicPr>
            <p:cNvPr id="5" name="Image 1" descr="preencoded.png">
              <a:extLst>
                <a:ext uri="{FF2B5EF4-FFF2-40B4-BE49-F238E27FC236}">
                  <a16:creationId xmlns:a16="http://schemas.microsoft.com/office/drawing/2014/main" id="{23491B3D-37C3-CD2E-C0C4-F432477038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8282" y="4894798"/>
              <a:ext cx="3154680" cy="530352"/>
            </a:xfrm>
            <a:prstGeom prst="rect">
              <a:avLst/>
            </a:prstGeom>
          </p:spPr>
        </p:pic>
        <p:pic>
          <p:nvPicPr>
            <p:cNvPr id="6" name="Image 0" descr="preencoded.png">
              <a:extLst>
                <a:ext uri="{FF2B5EF4-FFF2-40B4-BE49-F238E27FC236}">
                  <a16:creationId xmlns:a16="http://schemas.microsoft.com/office/drawing/2014/main" id="{912C1BAA-864E-F463-03B1-C8BB1633CF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7250" y="4170796"/>
              <a:ext cx="1508760" cy="411480"/>
            </a:xfrm>
            <a:prstGeom prst="rect">
              <a:avLst/>
            </a:prstGeom>
          </p:spPr>
        </p:pic>
      </p:grpSp>
      <p:pic>
        <p:nvPicPr>
          <p:cNvPr id="7" name="Picture 37">
            <a:extLst>
              <a:ext uri="{FF2B5EF4-FFF2-40B4-BE49-F238E27FC236}">
                <a16:creationId xmlns:a16="http://schemas.microsoft.com/office/drawing/2014/main" id="{4874BABF-6004-DABB-CDD1-4CB1F7B499FB}"/>
              </a:ext>
            </a:extLst>
          </p:cNvPr>
          <p:cNvPicPr>
            <a:picLocks noChangeAspect="1"/>
          </p:cNvPicPr>
          <p:nvPr/>
        </p:nvPicPr>
        <p:blipFill>
          <a:blip r:embed="rId5"/>
          <a:stretch>
            <a:fillRect/>
          </a:stretch>
        </p:blipFill>
        <p:spPr>
          <a:xfrm>
            <a:off x="2038992" y="1097280"/>
            <a:ext cx="8114015" cy="2608810"/>
          </a:xfrm>
          <a:prstGeom prst="rect">
            <a:avLst/>
          </a:prstGeom>
        </p:spPr>
      </p:pic>
      <p:sp>
        <p:nvSpPr>
          <p:cNvPr id="9" name="Shape 0">
            <a:extLst>
              <a:ext uri="{FF2B5EF4-FFF2-40B4-BE49-F238E27FC236}">
                <a16:creationId xmlns:a16="http://schemas.microsoft.com/office/drawing/2014/main" id="{F42F8BFE-55BC-5995-E3B9-FF0BD44D142C}"/>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4">
            <a:extLst>
              <a:ext uri="{FF2B5EF4-FFF2-40B4-BE49-F238E27FC236}">
                <a16:creationId xmlns:a16="http://schemas.microsoft.com/office/drawing/2014/main" id="{32C31D36-3295-AF93-FD18-AD15E9AEC386}"/>
              </a:ext>
            </a:extLst>
          </p:cNvPr>
          <p:cNvSpPr/>
          <p:nvPr/>
        </p:nvSpPr>
        <p:spPr>
          <a:xfrm>
            <a:off x="2068574" y="729344"/>
            <a:ext cx="7823084" cy="6057776"/>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457200" y="274320"/>
            <a:ext cx="11247120" cy="822960"/>
          </a:xfrm>
          <a:prstGeom prst="rect">
            <a:avLst/>
          </a:prstGeom>
          <a:noFill/>
        </p:spPr>
        <p:txBody>
          <a:bodyPr wrap="square">
            <a:spAutoFit/>
          </a:bodyPr>
          <a:lstStyle/>
          <a:p>
            <a:r>
              <a:rPr sz="3000" b="1" dirty="0">
                <a:solidFill>
                  <a:srgbClr val="0B2E4F"/>
                </a:solidFill>
              </a:rPr>
              <a:t>Linguistic Schemes Evaluated</a:t>
            </a:r>
          </a:p>
        </p:txBody>
      </p:sp>
      <p:sp>
        <p:nvSpPr>
          <p:cNvPr id="3" name="TextBox 2"/>
          <p:cNvSpPr txBox="1"/>
          <p:nvPr/>
        </p:nvSpPr>
        <p:spPr>
          <a:xfrm>
            <a:off x="2085425" y="5053311"/>
            <a:ext cx="7806232" cy="1733808"/>
          </a:xfrm>
          <a:prstGeom prst="rect">
            <a:avLst/>
          </a:prstGeom>
          <a:noFill/>
        </p:spPr>
        <p:txBody>
          <a:bodyPr wrap="square">
            <a:spAutoFit/>
          </a:bodyPr>
          <a:lstStyle/>
          <a:p>
            <a:pPr marL="285750" indent="-285750" algn="l">
              <a:spcAft>
                <a:spcPts val="800"/>
              </a:spcAft>
              <a:buFont typeface="Wingdings" panose="05000000000000000000" pitchFamily="2" charset="2"/>
              <a:buChar char="§"/>
            </a:pPr>
            <a:r>
              <a:rPr sz="1600" dirty="0">
                <a:solidFill>
                  <a:srgbClr val="0B2E4F"/>
                </a:solidFill>
              </a:rPr>
              <a:t>Two granularities: 3 labels and 5 labels.</a:t>
            </a:r>
          </a:p>
          <a:p>
            <a:pPr marL="285750" indent="-285750" algn="l">
              <a:spcAft>
                <a:spcPts val="800"/>
              </a:spcAft>
              <a:buFont typeface="Wingdings" panose="05000000000000000000" pitchFamily="2" charset="2"/>
              <a:buChar char="§"/>
            </a:pPr>
            <a:r>
              <a:rPr sz="1600" dirty="0">
                <a:solidFill>
                  <a:srgbClr val="0B2E4F"/>
                </a:solidFill>
              </a:rPr>
              <a:t>For each granularity, two configurations: Set A and Set B.</a:t>
            </a:r>
          </a:p>
          <a:p>
            <a:pPr marL="285750" indent="-285750" algn="l">
              <a:spcAft>
                <a:spcPts val="800"/>
              </a:spcAft>
              <a:buFont typeface="Wingdings" panose="05000000000000000000" pitchFamily="2" charset="2"/>
              <a:buChar char="§"/>
            </a:pPr>
            <a:r>
              <a:rPr sz="1600" dirty="0">
                <a:solidFill>
                  <a:srgbClr val="0B2E4F"/>
                </a:solidFill>
              </a:rPr>
              <a:t>Sets A and B differ only in shape, overlap and placement of the membership functions.</a:t>
            </a:r>
          </a:p>
          <a:p>
            <a:pPr marL="285750" indent="-285750" algn="l">
              <a:spcAft>
                <a:spcPts val="800"/>
              </a:spcAft>
              <a:buFont typeface="Wingdings" panose="05000000000000000000" pitchFamily="2" charset="2"/>
              <a:buChar char="§"/>
            </a:pPr>
            <a:r>
              <a:rPr sz="1600" dirty="0">
                <a:solidFill>
                  <a:srgbClr val="0B2E4F"/>
                </a:solidFill>
              </a:rPr>
              <a:t>Linguistic variables, universes of discourse and rule structure: identical.</a:t>
            </a:r>
          </a:p>
          <a:p>
            <a:pPr marL="285750" indent="-285750" algn="l">
              <a:spcAft>
                <a:spcPts val="800"/>
              </a:spcAft>
              <a:buFont typeface="Wingdings" panose="05000000000000000000" pitchFamily="2" charset="2"/>
              <a:buChar char="§"/>
            </a:pPr>
            <a:r>
              <a:rPr sz="1600" dirty="0">
                <a:solidFill>
                  <a:srgbClr val="0B2E4F"/>
                </a:solidFill>
              </a:rPr>
              <a:t>Membership functions remain static throughout the optimization.</a:t>
            </a:r>
          </a:p>
        </p:txBody>
      </p:sp>
      <p:sp>
        <p:nvSpPr>
          <p:cNvPr id="6" name="TextBox 5"/>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7" name="Shape 4">
            <a:extLst>
              <a:ext uri="{FF2B5EF4-FFF2-40B4-BE49-F238E27FC236}">
                <a16:creationId xmlns:a16="http://schemas.microsoft.com/office/drawing/2014/main" id="{FD4B0B18-A5F2-E5A5-5EC9-C309F6F604EB}"/>
              </a:ext>
            </a:extLst>
          </p:cNvPr>
          <p:cNvSpPr/>
          <p:nvPr/>
        </p:nvSpPr>
        <p:spPr>
          <a:xfrm>
            <a:off x="2068574" y="886837"/>
            <a:ext cx="7823083" cy="4164782"/>
          </a:xfrm>
          <a:prstGeom prst="roundRect">
            <a:avLst>
              <a:gd name="adj" fmla="val 1391"/>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a:p>
        </p:txBody>
      </p:sp>
      <p:sp>
        <p:nvSpPr>
          <p:cNvPr id="8" name="Text 5">
            <a:extLst>
              <a:ext uri="{FF2B5EF4-FFF2-40B4-BE49-F238E27FC236}">
                <a16:creationId xmlns:a16="http://schemas.microsoft.com/office/drawing/2014/main" id="{5BDFF846-14A0-39D5-FC3B-F2E53C9DFDF8}"/>
              </a:ext>
            </a:extLst>
          </p:cNvPr>
          <p:cNvSpPr/>
          <p:nvPr/>
        </p:nvSpPr>
        <p:spPr>
          <a:xfrm>
            <a:off x="2231466" y="879194"/>
            <a:ext cx="4750255" cy="278194"/>
          </a:xfrm>
          <a:prstGeom prst="rect">
            <a:avLst/>
          </a:prstGeom>
          <a:noFill/>
          <a:ln/>
        </p:spPr>
        <p:txBody>
          <a:bodyPr wrap="square" lIns="0" tIns="0" rIns="0" bIns="0" rtlCol="0" anchor="ctr"/>
          <a:lstStyle/>
          <a:p>
            <a:pPr marL="0" indent="0" algn="ctr">
              <a:buNone/>
            </a:pPr>
            <a:r>
              <a:rPr lang="en-US" sz="1600" b="1" dirty="0">
                <a:solidFill>
                  <a:srgbClr val="16324F"/>
                </a:solidFill>
              </a:rPr>
              <a:t>Input Membership functions</a:t>
            </a:r>
            <a:endParaRPr lang="en-US" sz="1600" dirty="0"/>
          </a:p>
        </p:txBody>
      </p:sp>
      <p:pic>
        <p:nvPicPr>
          <p:cNvPr id="9" name="Picture 25">
            <a:extLst>
              <a:ext uri="{FF2B5EF4-FFF2-40B4-BE49-F238E27FC236}">
                <a16:creationId xmlns:a16="http://schemas.microsoft.com/office/drawing/2014/main" id="{7F184DAE-B1A9-672A-E721-336B89875401}"/>
              </a:ext>
            </a:extLst>
          </p:cNvPr>
          <p:cNvPicPr>
            <a:picLocks noChangeAspect="1"/>
          </p:cNvPicPr>
          <p:nvPr/>
        </p:nvPicPr>
        <p:blipFill>
          <a:blip r:embed="rId3"/>
          <a:stretch>
            <a:fillRect/>
          </a:stretch>
        </p:blipFill>
        <p:spPr>
          <a:xfrm>
            <a:off x="2246739" y="1195154"/>
            <a:ext cx="2287883" cy="3791424"/>
          </a:xfrm>
          <a:prstGeom prst="rect">
            <a:avLst/>
          </a:prstGeom>
        </p:spPr>
      </p:pic>
      <p:pic>
        <p:nvPicPr>
          <p:cNvPr id="10" name="Picture 27">
            <a:extLst>
              <a:ext uri="{FF2B5EF4-FFF2-40B4-BE49-F238E27FC236}">
                <a16:creationId xmlns:a16="http://schemas.microsoft.com/office/drawing/2014/main" id="{11C559AB-A6B8-0801-B0EF-11ADF17F3787}"/>
              </a:ext>
            </a:extLst>
          </p:cNvPr>
          <p:cNvPicPr>
            <a:picLocks noChangeAspect="1"/>
          </p:cNvPicPr>
          <p:nvPr/>
        </p:nvPicPr>
        <p:blipFill>
          <a:blip r:embed="rId4"/>
          <a:stretch>
            <a:fillRect/>
          </a:stretch>
        </p:blipFill>
        <p:spPr>
          <a:xfrm>
            <a:off x="4693839" y="1205912"/>
            <a:ext cx="2287882" cy="3773734"/>
          </a:xfrm>
          <a:prstGeom prst="rect">
            <a:avLst/>
          </a:prstGeom>
        </p:spPr>
      </p:pic>
      <p:pic>
        <p:nvPicPr>
          <p:cNvPr id="11" name="Picture 30">
            <a:extLst>
              <a:ext uri="{FF2B5EF4-FFF2-40B4-BE49-F238E27FC236}">
                <a16:creationId xmlns:a16="http://schemas.microsoft.com/office/drawing/2014/main" id="{99EF374D-1442-7E68-5B66-5DF6AEAFEEC0}"/>
              </a:ext>
            </a:extLst>
          </p:cNvPr>
          <p:cNvPicPr>
            <a:picLocks noChangeAspect="1"/>
          </p:cNvPicPr>
          <p:nvPr/>
        </p:nvPicPr>
        <p:blipFill>
          <a:blip r:embed="rId5"/>
          <a:stretch>
            <a:fillRect/>
          </a:stretch>
        </p:blipFill>
        <p:spPr>
          <a:xfrm>
            <a:off x="7029411" y="1157387"/>
            <a:ext cx="2836425" cy="3894883"/>
          </a:xfrm>
          <a:prstGeom prst="rect">
            <a:avLst/>
          </a:prstGeom>
        </p:spPr>
      </p:pic>
      <p:sp>
        <p:nvSpPr>
          <p:cNvPr id="12" name="Text 5">
            <a:extLst>
              <a:ext uri="{FF2B5EF4-FFF2-40B4-BE49-F238E27FC236}">
                <a16:creationId xmlns:a16="http://schemas.microsoft.com/office/drawing/2014/main" id="{04D090DA-F3A3-82CC-BEA9-F7D19CD6268F}"/>
              </a:ext>
            </a:extLst>
          </p:cNvPr>
          <p:cNvSpPr/>
          <p:nvPr/>
        </p:nvSpPr>
        <p:spPr>
          <a:xfrm>
            <a:off x="6898152" y="884518"/>
            <a:ext cx="2967684" cy="278194"/>
          </a:xfrm>
          <a:prstGeom prst="rect">
            <a:avLst/>
          </a:prstGeom>
          <a:noFill/>
          <a:ln/>
        </p:spPr>
        <p:txBody>
          <a:bodyPr wrap="square" lIns="0" tIns="0" rIns="0" bIns="0" rtlCol="0" anchor="ctr"/>
          <a:lstStyle/>
          <a:p>
            <a:pPr marL="0" indent="0" algn="ctr">
              <a:buNone/>
            </a:pPr>
            <a:r>
              <a:rPr lang="en-US" sz="1600" b="1" dirty="0">
                <a:solidFill>
                  <a:srgbClr val="7030A0"/>
                </a:solidFill>
              </a:rPr>
              <a:t>Output Membership functions</a:t>
            </a:r>
            <a:endParaRPr lang="en-US" sz="1600" dirty="0">
              <a:solidFill>
                <a:srgbClr val="7030A0"/>
              </a:solidFill>
            </a:endParaRPr>
          </a:p>
        </p:txBody>
      </p:sp>
      <p:sp>
        <p:nvSpPr>
          <p:cNvPr id="13" name="Text 5">
            <a:extLst>
              <a:ext uri="{FF2B5EF4-FFF2-40B4-BE49-F238E27FC236}">
                <a16:creationId xmlns:a16="http://schemas.microsoft.com/office/drawing/2014/main" id="{98F26F6E-1B91-5633-6DB5-C1E0754E0576}"/>
              </a:ext>
            </a:extLst>
          </p:cNvPr>
          <p:cNvSpPr/>
          <p:nvPr/>
        </p:nvSpPr>
        <p:spPr>
          <a:xfrm>
            <a:off x="2094012" y="1459139"/>
            <a:ext cx="180304" cy="999658"/>
          </a:xfrm>
          <a:prstGeom prst="rect">
            <a:avLst/>
          </a:prstGeom>
          <a:noFill/>
          <a:ln/>
        </p:spPr>
        <p:txBody>
          <a:bodyPr vert="vert270" wrap="square" lIns="0" tIns="0" rIns="0" bIns="0" rtlCol="0" anchor="ctr"/>
          <a:lstStyle/>
          <a:p>
            <a:pPr marL="0" indent="0" algn="ctr">
              <a:buNone/>
            </a:pPr>
            <a:r>
              <a:rPr lang="en-US" sz="1600" b="1" dirty="0">
                <a:solidFill>
                  <a:srgbClr val="C00000"/>
                </a:solidFill>
              </a:rPr>
              <a:t>3 labels</a:t>
            </a:r>
            <a:endParaRPr lang="en-US" sz="1600" dirty="0">
              <a:solidFill>
                <a:srgbClr val="C00000"/>
              </a:solidFill>
            </a:endParaRPr>
          </a:p>
        </p:txBody>
      </p:sp>
      <p:sp>
        <p:nvSpPr>
          <p:cNvPr id="14" name="Text 5">
            <a:extLst>
              <a:ext uri="{FF2B5EF4-FFF2-40B4-BE49-F238E27FC236}">
                <a16:creationId xmlns:a16="http://schemas.microsoft.com/office/drawing/2014/main" id="{DE840178-FCFE-8C4F-443D-7554D2CAA5CF}"/>
              </a:ext>
            </a:extLst>
          </p:cNvPr>
          <p:cNvSpPr/>
          <p:nvPr/>
        </p:nvSpPr>
        <p:spPr>
          <a:xfrm>
            <a:off x="2085425" y="3255379"/>
            <a:ext cx="180304" cy="999658"/>
          </a:xfrm>
          <a:prstGeom prst="rect">
            <a:avLst/>
          </a:prstGeom>
          <a:noFill/>
          <a:ln/>
        </p:spPr>
        <p:txBody>
          <a:bodyPr vert="vert270" wrap="square" lIns="0" tIns="0" rIns="0" bIns="0" rtlCol="0" anchor="ctr"/>
          <a:lstStyle/>
          <a:p>
            <a:pPr marL="0" indent="0" algn="ctr">
              <a:buNone/>
            </a:pPr>
            <a:r>
              <a:rPr lang="en-US" sz="1600" b="1" dirty="0">
                <a:solidFill>
                  <a:srgbClr val="C00000"/>
                </a:solidFill>
              </a:rPr>
              <a:t>5 labels</a:t>
            </a:r>
            <a:endParaRPr lang="en-US" sz="1600" dirty="0">
              <a:solidFill>
                <a:srgbClr val="C00000"/>
              </a:solidFill>
            </a:endParaRPr>
          </a:p>
        </p:txBody>
      </p:sp>
      <p:sp>
        <p:nvSpPr>
          <p:cNvPr id="4" name="Shape 0">
            <a:extLst>
              <a:ext uri="{FF2B5EF4-FFF2-40B4-BE49-F238E27FC236}">
                <a16:creationId xmlns:a16="http://schemas.microsoft.com/office/drawing/2014/main" id="{2DBB174F-EA66-8936-0718-6C97632036C5}"/>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Output and Rule Base</a:t>
            </a:r>
          </a:p>
        </p:txBody>
      </p:sp>
      <p:sp>
        <p:nvSpPr>
          <p:cNvPr id="3" name="TextBox 2"/>
          <p:cNvSpPr txBox="1"/>
          <p:nvPr/>
        </p:nvSpPr>
        <p:spPr>
          <a:xfrm>
            <a:off x="457200" y="960120"/>
            <a:ext cx="11247120" cy="457200"/>
          </a:xfrm>
          <a:prstGeom prst="rect">
            <a:avLst/>
          </a:prstGeom>
          <a:noFill/>
        </p:spPr>
        <p:txBody>
          <a:bodyPr wrap="none">
            <a:spAutoFit/>
          </a:bodyPr>
          <a:lstStyle/>
          <a:p>
            <a:r>
              <a:rPr sz="1600" i="1">
                <a:solidFill>
                  <a:srgbClr val="555555"/>
                </a:solidFill>
              </a:rPr>
              <a:t>Increasing granularity refines the control surface while preserving the strategy.</a:t>
            </a:r>
          </a:p>
        </p:txBody>
      </p:sp>
      <p:pic>
        <p:nvPicPr>
          <p:cNvPr id="4" name="Picture 3" descr="04_fuzzy_rules_heatmap_3labels_R1.png"/>
          <p:cNvPicPr>
            <a:picLocks noChangeAspect="1"/>
          </p:cNvPicPr>
          <p:nvPr/>
        </p:nvPicPr>
        <p:blipFill>
          <a:blip r:embed="rId3"/>
          <a:stretch>
            <a:fillRect/>
          </a:stretch>
        </p:blipFill>
        <p:spPr>
          <a:xfrm>
            <a:off x="365760" y="1554480"/>
            <a:ext cx="5669280" cy="4401152"/>
          </a:xfrm>
          <a:prstGeom prst="rect">
            <a:avLst/>
          </a:prstGeom>
        </p:spPr>
      </p:pic>
      <p:pic>
        <p:nvPicPr>
          <p:cNvPr id="5" name="Picture 4" descr="04_fuzzy_rules_heatmap_5labels_R1.png"/>
          <p:cNvPicPr>
            <a:picLocks noChangeAspect="1"/>
          </p:cNvPicPr>
          <p:nvPr/>
        </p:nvPicPr>
        <p:blipFill>
          <a:blip r:embed="rId4"/>
          <a:stretch>
            <a:fillRect/>
          </a:stretch>
        </p:blipFill>
        <p:spPr>
          <a:xfrm>
            <a:off x="6217920" y="1554480"/>
            <a:ext cx="5669280" cy="4625432"/>
          </a:xfrm>
          <a:prstGeom prst="rect">
            <a:avLst/>
          </a:prstGeom>
        </p:spPr>
      </p:pic>
      <p:sp>
        <p:nvSpPr>
          <p:cNvPr id="6" name="TextBox 5"/>
          <p:cNvSpPr txBox="1"/>
          <p:nvPr/>
        </p:nvSpPr>
        <p:spPr>
          <a:xfrm>
            <a:off x="365760" y="5943600"/>
            <a:ext cx="10972800" cy="365760"/>
          </a:xfrm>
          <a:prstGeom prst="rect">
            <a:avLst/>
          </a:prstGeom>
          <a:noFill/>
        </p:spPr>
        <p:txBody>
          <a:bodyPr wrap="none">
            <a:spAutoFit/>
          </a:bodyPr>
          <a:lstStyle/>
          <a:p>
            <a:pPr algn="ctr"/>
            <a:r>
              <a:rPr sz="1400" i="1" dirty="0">
                <a:solidFill>
                  <a:srgbClr val="555555"/>
                </a:solidFill>
              </a:rPr>
              <a:t>Left: 3-label rule base    ·    Right: 5-label rule base</a:t>
            </a:r>
          </a:p>
        </p:txBody>
      </p:sp>
      <p:sp>
        <p:nvSpPr>
          <p:cNvPr id="7" name="TextBox 6"/>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8" name="Shape 0">
            <a:extLst>
              <a:ext uri="{FF2B5EF4-FFF2-40B4-BE49-F238E27FC236}">
                <a16:creationId xmlns:a16="http://schemas.microsoft.com/office/drawing/2014/main" id="{F4FED876-1EF0-A41A-ADCA-62F2EB541F04}"/>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Benchmark Functions</a:t>
            </a:r>
          </a:p>
        </p:txBody>
      </p:sp>
      <p:sp>
        <p:nvSpPr>
          <p:cNvPr id="3" name="TextBox 2"/>
          <p:cNvSpPr txBox="1"/>
          <p:nvPr/>
        </p:nvSpPr>
        <p:spPr>
          <a:xfrm>
            <a:off x="457200" y="960120"/>
            <a:ext cx="6025496" cy="338554"/>
          </a:xfrm>
          <a:prstGeom prst="rect">
            <a:avLst/>
          </a:prstGeom>
          <a:noFill/>
        </p:spPr>
        <p:txBody>
          <a:bodyPr wrap="none">
            <a:spAutoFit/>
          </a:bodyPr>
          <a:lstStyle/>
          <a:p>
            <a:r>
              <a:rPr sz="1600" b="1" i="1" dirty="0">
                <a:solidFill>
                  <a:srgbClr val="555555"/>
                </a:solidFill>
              </a:rPr>
              <a:t>Classical functions with contrasting landscapes</a:t>
            </a:r>
            <a:r>
              <a:rPr lang="es-CL" sz="1600" b="1" i="1" dirty="0">
                <a:solidFill>
                  <a:srgbClr val="555555"/>
                </a:solidFill>
              </a:rPr>
              <a:t> (</a:t>
            </a:r>
            <a:r>
              <a:rPr lang="es-CL" sz="1600" b="1" i="1" dirty="0" err="1">
                <a:solidFill>
                  <a:srgbClr val="555555"/>
                </a:solidFill>
              </a:rPr>
              <a:t>Opfunu</a:t>
            </a:r>
            <a:r>
              <a:rPr lang="es-CL" sz="1600" b="1" i="1" dirty="0">
                <a:solidFill>
                  <a:srgbClr val="555555"/>
                </a:solidFill>
              </a:rPr>
              <a:t> </a:t>
            </a:r>
            <a:r>
              <a:rPr lang="es-CL" sz="1600" b="1" i="1" dirty="0" err="1">
                <a:solidFill>
                  <a:srgbClr val="555555"/>
                </a:solidFill>
              </a:rPr>
              <a:t>library</a:t>
            </a:r>
            <a:r>
              <a:rPr lang="es-CL" sz="1600" b="1" i="1" dirty="0">
                <a:solidFill>
                  <a:srgbClr val="555555"/>
                </a:solidFill>
              </a:rPr>
              <a:t> [12]).</a:t>
            </a:r>
            <a:endParaRPr sz="1600" b="1" i="1" dirty="0">
              <a:solidFill>
                <a:srgbClr val="555555"/>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702705106"/>
              </p:ext>
            </p:extLst>
          </p:nvPr>
        </p:nvGraphicFramePr>
        <p:xfrm>
          <a:off x="1828800" y="1828800"/>
          <a:ext cx="8503920" cy="320040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640080">
                <a:tc>
                  <a:txBody>
                    <a:bodyPr/>
                    <a:lstStyle/>
                    <a:p>
                      <a:pPr algn="ctr"/>
                      <a:r>
                        <a:rPr sz="1800" b="1" dirty="0">
                          <a:solidFill>
                            <a:srgbClr val="FFFFFF"/>
                          </a:solidFill>
                        </a:rPr>
                        <a:t>Function</a:t>
                      </a:r>
                    </a:p>
                  </a:txBody>
                  <a:tcPr>
                    <a:solidFill>
                      <a:srgbClr val="0B2E4F"/>
                    </a:solidFill>
                  </a:tcPr>
                </a:tc>
                <a:tc>
                  <a:txBody>
                    <a:bodyPr/>
                    <a:lstStyle/>
                    <a:p>
                      <a:pPr algn="ctr"/>
                      <a:r>
                        <a:rPr sz="1800" b="1">
                          <a:solidFill>
                            <a:srgbClr val="FFFFFF"/>
                          </a:solidFill>
                        </a:rPr>
                        <a:t>Type</a:t>
                      </a:r>
                    </a:p>
                  </a:txBody>
                  <a:tcPr>
                    <a:solidFill>
                      <a:srgbClr val="0B2E4F"/>
                    </a:solidFill>
                  </a:tcPr>
                </a:tc>
                <a:tc>
                  <a:txBody>
                    <a:bodyPr/>
                    <a:lstStyle/>
                    <a:p>
                      <a:pPr algn="ctr"/>
                      <a:r>
                        <a:rPr sz="1800" b="1">
                          <a:solidFill>
                            <a:srgbClr val="FFFFFF"/>
                          </a:solidFill>
                        </a:rPr>
                        <a:t>Dim.</a:t>
                      </a:r>
                    </a:p>
                  </a:txBody>
                  <a:tcPr>
                    <a:solidFill>
                      <a:srgbClr val="0B2E4F"/>
                    </a:solidFill>
                  </a:tcPr>
                </a:tc>
                <a:tc>
                  <a:txBody>
                    <a:bodyPr/>
                    <a:lstStyle/>
                    <a:p>
                      <a:pPr algn="ctr"/>
                      <a:r>
                        <a:rPr sz="1800" b="1">
                          <a:solidFill>
                            <a:srgbClr val="FFFFFF"/>
                          </a:solidFill>
                        </a:rPr>
                        <a:t>Global Optimum</a:t>
                      </a:r>
                    </a:p>
                  </a:txBody>
                  <a:tcPr>
                    <a:solidFill>
                      <a:srgbClr val="0B2E4F"/>
                    </a:solidFill>
                  </a:tcPr>
                </a:tc>
                <a:extLst>
                  <a:ext uri="{0D108BD9-81ED-4DB2-BD59-A6C34878D82A}">
                    <a16:rowId xmlns:a16="http://schemas.microsoft.com/office/drawing/2014/main" val="10000"/>
                  </a:ext>
                </a:extLst>
              </a:tr>
              <a:tr h="640080">
                <a:tc>
                  <a:txBody>
                    <a:bodyPr/>
                    <a:lstStyle/>
                    <a:p>
                      <a:pPr algn="ctr"/>
                      <a:r>
                        <a:rPr sz="1800">
                          <a:solidFill>
                            <a:srgbClr val="0B2E4F"/>
                          </a:solidFill>
                        </a:rPr>
                        <a:t>F1 (Sphere)</a:t>
                      </a:r>
                    </a:p>
                  </a:txBody>
                  <a:tcPr/>
                </a:tc>
                <a:tc>
                  <a:txBody>
                    <a:bodyPr/>
                    <a:lstStyle/>
                    <a:p>
                      <a:pPr algn="ctr"/>
                      <a:r>
                        <a:rPr sz="1800" dirty="0">
                          <a:solidFill>
                            <a:srgbClr val="0B2E4F"/>
                          </a:solidFill>
                        </a:rPr>
                        <a:t>Unimodal</a:t>
                      </a:r>
                    </a:p>
                  </a:txBody>
                  <a:tcPr/>
                </a:tc>
                <a:tc>
                  <a:txBody>
                    <a:bodyPr/>
                    <a:lstStyle/>
                    <a:p>
                      <a:pPr algn="ctr"/>
                      <a:r>
                        <a:rPr sz="1800">
                          <a:solidFill>
                            <a:srgbClr val="0B2E4F"/>
                          </a:solidFill>
                        </a:rPr>
                        <a:t>100</a:t>
                      </a:r>
                    </a:p>
                  </a:txBody>
                  <a:tcPr/>
                </a:tc>
                <a:tc>
                  <a:txBody>
                    <a:bodyPr/>
                    <a:lstStyle/>
                    <a:p>
                      <a:pPr algn="ctr"/>
                      <a:r>
                        <a:rPr sz="1800">
                          <a:solidFill>
                            <a:srgbClr val="0B2E4F"/>
                          </a:solidFill>
                        </a:rPr>
                        <a:t>0.0</a:t>
                      </a:r>
                    </a:p>
                  </a:txBody>
                  <a:tcPr/>
                </a:tc>
                <a:extLst>
                  <a:ext uri="{0D108BD9-81ED-4DB2-BD59-A6C34878D82A}">
                    <a16:rowId xmlns:a16="http://schemas.microsoft.com/office/drawing/2014/main" val="10001"/>
                  </a:ext>
                </a:extLst>
              </a:tr>
              <a:tr h="640080">
                <a:tc>
                  <a:txBody>
                    <a:bodyPr/>
                    <a:lstStyle/>
                    <a:p>
                      <a:pPr algn="ctr"/>
                      <a:r>
                        <a:rPr sz="1800">
                          <a:solidFill>
                            <a:srgbClr val="0B2E4F"/>
                          </a:solidFill>
                        </a:rPr>
                        <a:t>F11 (Griewank)</a:t>
                      </a:r>
                    </a:p>
                  </a:txBody>
                  <a:tcPr/>
                </a:tc>
                <a:tc>
                  <a:txBody>
                    <a:bodyPr/>
                    <a:lstStyle/>
                    <a:p>
                      <a:pPr algn="ctr"/>
                      <a:r>
                        <a:rPr sz="1800">
                          <a:solidFill>
                            <a:srgbClr val="0B2E4F"/>
                          </a:solidFill>
                        </a:rPr>
                        <a:t>Multimodal regular</a:t>
                      </a:r>
                    </a:p>
                  </a:txBody>
                  <a:tcPr/>
                </a:tc>
                <a:tc>
                  <a:txBody>
                    <a:bodyPr/>
                    <a:lstStyle/>
                    <a:p>
                      <a:pPr algn="ctr"/>
                      <a:r>
                        <a:rPr sz="1800" dirty="0">
                          <a:solidFill>
                            <a:srgbClr val="0B2E4F"/>
                          </a:solidFill>
                        </a:rPr>
                        <a:t>100</a:t>
                      </a:r>
                    </a:p>
                  </a:txBody>
                  <a:tcPr/>
                </a:tc>
                <a:tc>
                  <a:txBody>
                    <a:bodyPr/>
                    <a:lstStyle/>
                    <a:p>
                      <a:pPr algn="ctr"/>
                      <a:r>
                        <a:rPr sz="1800">
                          <a:solidFill>
                            <a:srgbClr val="0B2E4F"/>
                          </a:solidFill>
                        </a:rPr>
                        <a:t>0.0</a:t>
                      </a:r>
                    </a:p>
                  </a:txBody>
                  <a:tcPr/>
                </a:tc>
                <a:extLst>
                  <a:ext uri="{0D108BD9-81ED-4DB2-BD59-A6C34878D82A}">
                    <a16:rowId xmlns:a16="http://schemas.microsoft.com/office/drawing/2014/main" val="10002"/>
                  </a:ext>
                </a:extLst>
              </a:tr>
              <a:tr h="640080">
                <a:tc>
                  <a:txBody>
                    <a:bodyPr/>
                    <a:lstStyle/>
                    <a:p>
                      <a:pPr algn="ctr"/>
                      <a:r>
                        <a:rPr sz="1800">
                          <a:solidFill>
                            <a:srgbClr val="0B2E4F"/>
                          </a:solidFill>
                        </a:rPr>
                        <a:t>F21 (Shekel, m=5)</a:t>
                      </a:r>
                    </a:p>
                  </a:txBody>
                  <a:tcPr/>
                </a:tc>
                <a:tc>
                  <a:txBody>
                    <a:bodyPr/>
                    <a:lstStyle/>
                    <a:p>
                      <a:pPr algn="ctr"/>
                      <a:r>
                        <a:rPr sz="1800">
                          <a:solidFill>
                            <a:srgbClr val="0B2E4F"/>
                          </a:solidFill>
                        </a:rPr>
                        <a:t>Multimodal rugged</a:t>
                      </a:r>
                    </a:p>
                  </a:txBody>
                  <a:tcPr/>
                </a:tc>
                <a:tc>
                  <a:txBody>
                    <a:bodyPr/>
                    <a:lstStyle/>
                    <a:p>
                      <a:pPr algn="ctr"/>
                      <a:r>
                        <a:rPr sz="1800">
                          <a:solidFill>
                            <a:srgbClr val="0B2E4F"/>
                          </a:solidFill>
                        </a:rPr>
                        <a:t>4</a:t>
                      </a:r>
                    </a:p>
                  </a:txBody>
                  <a:tcPr/>
                </a:tc>
                <a:tc>
                  <a:txBody>
                    <a:bodyPr/>
                    <a:lstStyle/>
                    <a:p>
                      <a:pPr algn="ctr"/>
                      <a:r>
                        <a:rPr sz="1800" dirty="0">
                          <a:solidFill>
                            <a:srgbClr val="0B2E4F"/>
                          </a:solidFill>
                        </a:rPr>
                        <a:t>−10.1532</a:t>
                      </a:r>
                    </a:p>
                  </a:txBody>
                  <a:tcPr/>
                </a:tc>
                <a:extLst>
                  <a:ext uri="{0D108BD9-81ED-4DB2-BD59-A6C34878D82A}">
                    <a16:rowId xmlns:a16="http://schemas.microsoft.com/office/drawing/2014/main" val="10003"/>
                  </a:ext>
                </a:extLst>
              </a:tr>
              <a:tr h="640080">
                <a:tc>
                  <a:txBody>
                    <a:bodyPr/>
                    <a:lstStyle/>
                    <a:p>
                      <a:pPr algn="ctr"/>
                      <a:r>
                        <a:rPr sz="1800">
                          <a:solidFill>
                            <a:srgbClr val="0B2E4F"/>
                          </a:solidFill>
                        </a:rPr>
                        <a:t>F23 (Shekel, m=10)</a:t>
                      </a:r>
                    </a:p>
                  </a:txBody>
                  <a:tcPr/>
                </a:tc>
                <a:tc>
                  <a:txBody>
                    <a:bodyPr/>
                    <a:lstStyle/>
                    <a:p>
                      <a:pPr algn="ctr"/>
                      <a:r>
                        <a:rPr sz="1800">
                          <a:solidFill>
                            <a:srgbClr val="0B2E4F"/>
                          </a:solidFill>
                        </a:rPr>
                        <a:t>Multimodal rugged</a:t>
                      </a:r>
                    </a:p>
                  </a:txBody>
                  <a:tcPr/>
                </a:tc>
                <a:tc>
                  <a:txBody>
                    <a:bodyPr/>
                    <a:lstStyle/>
                    <a:p>
                      <a:pPr algn="ctr"/>
                      <a:r>
                        <a:rPr sz="1800">
                          <a:solidFill>
                            <a:srgbClr val="0B2E4F"/>
                          </a:solidFill>
                        </a:rPr>
                        <a:t>4</a:t>
                      </a:r>
                    </a:p>
                  </a:txBody>
                  <a:tcPr/>
                </a:tc>
                <a:tc>
                  <a:txBody>
                    <a:bodyPr/>
                    <a:lstStyle/>
                    <a:p>
                      <a:pPr algn="ctr"/>
                      <a:r>
                        <a:rPr sz="1800" dirty="0">
                          <a:solidFill>
                            <a:srgbClr val="0B2E4F"/>
                          </a:solidFill>
                        </a:rPr>
                        <a:t>−10.5363</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274320" y="6492240"/>
            <a:ext cx="8686800" cy="320040"/>
          </a:xfrm>
          <a:prstGeom prst="rect">
            <a:avLst/>
          </a:prstGeom>
          <a:noFill/>
        </p:spPr>
        <p:txBody>
          <a:bodyPr wrap="none">
            <a:spAutoFit/>
          </a:bodyPr>
          <a:lstStyle/>
          <a:p>
            <a:pPr algn="l"/>
            <a:r>
              <a:rPr sz="900" i="1">
                <a:solidFill>
                  <a:srgbClr val="888888"/>
                </a:solidFill>
              </a:rPr>
              <a:t>[12] Van Thieu, Opfunu — Python library for benchmark functions, 2024</a:t>
            </a:r>
          </a:p>
        </p:txBody>
      </p:sp>
      <p:sp>
        <p:nvSpPr>
          <p:cNvPr id="6" name="TextBox 5"/>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7" name="Shape 0">
            <a:extLst>
              <a:ext uri="{FF2B5EF4-FFF2-40B4-BE49-F238E27FC236}">
                <a16:creationId xmlns:a16="http://schemas.microsoft.com/office/drawing/2014/main" id="{869F8E38-126C-6870-D156-30EA32038503}"/>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a:extLst>
              <a:ext uri="{FF2B5EF4-FFF2-40B4-BE49-F238E27FC236}">
                <a16:creationId xmlns:a16="http://schemas.microsoft.com/office/drawing/2014/main" id="{943AEC45-D60F-EF97-EE3E-62EE7BED7E65}"/>
              </a:ext>
            </a:extLst>
          </p:cNvPr>
          <p:cNvSpPr/>
          <p:nvPr/>
        </p:nvSpPr>
        <p:spPr>
          <a:xfrm>
            <a:off x="658367" y="1207008"/>
            <a:ext cx="10738976" cy="4194679"/>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Experimental Protocol</a:t>
            </a:r>
          </a:p>
        </p:txBody>
      </p:sp>
      <p:graphicFrame>
        <p:nvGraphicFramePr>
          <p:cNvPr id="3" name="Table 2"/>
          <p:cNvGraphicFramePr>
            <a:graphicFrameLocks noGrp="1"/>
          </p:cNvGraphicFramePr>
          <p:nvPr>
            <p:extLst>
              <p:ext uri="{D42A27DB-BD31-4B8C-83A1-F6EECF244321}">
                <p14:modId xmlns:p14="http://schemas.microsoft.com/office/powerpoint/2010/main" val="1051852304"/>
              </p:ext>
            </p:extLst>
          </p:nvPr>
        </p:nvGraphicFramePr>
        <p:xfrm>
          <a:off x="914400" y="1371600"/>
          <a:ext cx="6499412" cy="3984168"/>
        </p:xfrm>
        <a:graphic>
          <a:graphicData uri="http://schemas.openxmlformats.org/drawingml/2006/table">
            <a:tbl>
              <a:tblPr firstRow="1" bandRow="1">
                <a:tableStyleId>{69012ECD-51FC-41F1-AA8D-1B2483CD663E}</a:tableStyleId>
              </a:tblPr>
              <a:tblGrid>
                <a:gridCol w="3249706">
                  <a:extLst>
                    <a:ext uri="{9D8B030D-6E8A-4147-A177-3AD203B41FA5}">
                      <a16:colId xmlns:a16="http://schemas.microsoft.com/office/drawing/2014/main" val="20000"/>
                    </a:ext>
                  </a:extLst>
                </a:gridCol>
                <a:gridCol w="3249706">
                  <a:extLst>
                    <a:ext uri="{9D8B030D-6E8A-4147-A177-3AD203B41FA5}">
                      <a16:colId xmlns:a16="http://schemas.microsoft.com/office/drawing/2014/main" val="20001"/>
                    </a:ext>
                  </a:extLst>
                </a:gridCol>
              </a:tblGrid>
              <a:tr h="470262">
                <a:tc>
                  <a:txBody>
                    <a:bodyPr/>
                    <a:lstStyle/>
                    <a:p>
                      <a:r>
                        <a:rPr sz="2000" b="1" dirty="0">
                          <a:solidFill>
                            <a:srgbClr val="FFFFFF"/>
                          </a:solidFill>
                        </a:rPr>
                        <a:t>Parameter</a:t>
                      </a:r>
                    </a:p>
                  </a:txBody>
                  <a:tcPr/>
                </a:tc>
                <a:tc>
                  <a:txBody>
                    <a:bodyPr/>
                    <a:lstStyle/>
                    <a:p>
                      <a:r>
                        <a:rPr sz="2000" b="1">
                          <a:solidFill>
                            <a:srgbClr val="FFFFFF"/>
                          </a:solidFill>
                        </a:rPr>
                        <a:t>Value</a:t>
                      </a:r>
                    </a:p>
                  </a:txBody>
                  <a:tcPr/>
                </a:tc>
                <a:extLst>
                  <a:ext uri="{0D108BD9-81ED-4DB2-BD59-A6C34878D82A}">
                    <a16:rowId xmlns:a16="http://schemas.microsoft.com/office/drawing/2014/main" val="10000"/>
                  </a:ext>
                </a:extLst>
              </a:tr>
              <a:tr h="470262">
                <a:tc>
                  <a:txBody>
                    <a:bodyPr/>
                    <a:lstStyle/>
                    <a:p>
                      <a:r>
                        <a:rPr sz="2000">
                          <a:solidFill>
                            <a:srgbClr val="0B2E4F"/>
                          </a:solidFill>
                        </a:rPr>
                        <a:t>Population size</a:t>
                      </a:r>
                    </a:p>
                  </a:txBody>
                  <a:tcPr/>
                </a:tc>
                <a:tc>
                  <a:txBody>
                    <a:bodyPr/>
                    <a:lstStyle/>
                    <a:p>
                      <a:r>
                        <a:rPr sz="2000">
                          <a:solidFill>
                            <a:srgbClr val="0B2E4F"/>
                          </a:solidFill>
                        </a:rPr>
                        <a:t>50 particles</a:t>
                      </a:r>
                    </a:p>
                  </a:txBody>
                  <a:tcPr/>
                </a:tc>
                <a:extLst>
                  <a:ext uri="{0D108BD9-81ED-4DB2-BD59-A6C34878D82A}">
                    <a16:rowId xmlns:a16="http://schemas.microsoft.com/office/drawing/2014/main" val="10001"/>
                  </a:ext>
                </a:extLst>
              </a:tr>
              <a:tr h="470262">
                <a:tc>
                  <a:txBody>
                    <a:bodyPr/>
                    <a:lstStyle/>
                    <a:p>
                      <a:r>
                        <a:rPr sz="2000">
                          <a:solidFill>
                            <a:srgbClr val="0B2E4F"/>
                          </a:solidFill>
                        </a:rPr>
                        <a:t>Iterations</a:t>
                      </a:r>
                    </a:p>
                  </a:txBody>
                  <a:tcPr/>
                </a:tc>
                <a:tc>
                  <a:txBody>
                    <a:bodyPr/>
                    <a:lstStyle/>
                    <a:p>
                      <a:r>
                        <a:rPr sz="2000">
                          <a:solidFill>
                            <a:srgbClr val="0B2E4F"/>
                          </a:solidFill>
                        </a:rPr>
                        <a:t>500</a:t>
                      </a:r>
                    </a:p>
                  </a:txBody>
                  <a:tcPr/>
                </a:tc>
                <a:extLst>
                  <a:ext uri="{0D108BD9-81ED-4DB2-BD59-A6C34878D82A}">
                    <a16:rowId xmlns:a16="http://schemas.microsoft.com/office/drawing/2014/main" val="10002"/>
                  </a:ext>
                </a:extLst>
              </a:tr>
              <a:tr h="470262">
                <a:tc>
                  <a:txBody>
                    <a:bodyPr/>
                    <a:lstStyle/>
                    <a:p>
                      <a:r>
                        <a:rPr sz="2000">
                          <a:solidFill>
                            <a:srgbClr val="0B2E4F"/>
                          </a:solidFill>
                        </a:rPr>
                        <a:t>Independent runs</a:t>
                      </a:r>
                    </a:p>
                  </a:txBody>
                  <a:tcPr/>
                </a:tc>
                <a:tc>
                  <a:txBody>
                    <a:bodyPr/>
                    <a:lstStyle/>
                    <a:p>
                      <a:r>
                        <a:rPr sz="2000" dirty="0">
                          <a:solidFill>
                            <a:srgbClr val="0B2E4F"/>
                          </a:solidFill>
                        </a:rPr>
                        <a:t>31</a:t>
                      </a:r>
                    </a:p>
                  </a:txBody>
                  <a:tcPr/>
                </a:tc>
                <a:extLst>
                  <a:ext uri="{0D108BD9-81ED-4DB2-BD59-A6C34878D82A}">
                    <a16:rowId xmlns:a16="http://schemas.microsoft.com/office/drawing/2014/main" val="10003"/>
                  </a:ext>
                </a:extLst>
              </a:tr>
              <a:tr h="470262">
                <a:tc>
                  <a:txBody>
                    <a:bodyPr/>
                    <a:lstStyle/>
                    <a:p>
                      <a:r>
                        <a:rPr sz="2000">
                          <a:solidFill>
                            <a:srgbClr val="0B2E4F"/>
                          </a:solidFill>
                        </a:rPr>
                        <a:t>Random seeds</a:t>
                      </a:r>
                    </a:p>
                  </a:txBody>
                  <a:tcPr/>
                </a:tc>
                <a:tc>
                  <a:txBody>
                    <a:bodyPr/>
                    <a:lstStyle/>
                    <a:p>
                      <a:r>
                        <a:rPr sz="2000">
                          <a:solidFill>
                            <a:srgbClr val="0B2E4F"/>
                          </a:solidFill>
                        </a:rPr>
                        <a:t>42, 43, …, 72 (shared across algorithms)</a:t>
                      </a:r>
                    </a:p>
                  </a:txBody>
                  <a:tcPr/>
                </a:tc>
                <a:extLst>
                  <a:ext uri="{0D108BD9-81ED-4DB2-BD59-A6C34878D82A}">
                    <a16:rowId xmlns:a16="http://schemas.microsoft.com/office/drawing/2014/main" val="10004"/>
                  </a:ext>
                </a:extLst>
              </a:tr>
              <a:tr h="470262">
                <a:tc>
                  <a:txBody>
                    <a:bodyPr/>
                    <a:lstStyle/>
                    <a:p>
                      <a:r>
                        <a:rPr sz="2000">
                          <a:solidFill>
                            <a:srgbClr val="0B2E4F"/>
                          </a:solidFill>
                        </a:rPr>
                        <a:t>Hardware</a:t>
                      </a:r>
                    </a:p>
                  </a:txBody>
                  <a:tcPr/>
                </a:tc>
                <a:tc>
                  <a:txBody>
                    <a:bodyPr/>
                    <a:lstStyle/>
                    <a:p>
                      <a:r>
                        <a:rPr sz="2000">
                          <a:solidFill>
                            <a:srgbClr val="0B2E4F"/>
                          </a:solidFill>
                        </a:rPr>
                        <a:t>Intel Core i7 2.8 GHz, 16 GB RAM</a:t>
                      </a:r>
                    </a:p>
                  </a:txBody>
                  <a:tcPr/>
                </a:tc>
                <a:extLst>
                  <a:ext uri="{0D108BD9-81ED-4DB2-BD59-A6C34878D82A}">
                    <a16:rowId xmlns:a16="http://schemas.microsoft.com/office/drawing/2014/main" val="10005"/>
                  </a:ext>
                </a:extLst>
              </a:tr>
              <a:tr h="470268">
                <a:tc>
                  <a:txBody>
                    <a:bodyPr/>
                    <a:lstStyle/>
                    <a:p>
                      <a:r>
                        <a:rPr sz="2000">
                          <a:solidFill>
                            <a:srgbClr val="0B2E4F"/>
                          </a:solidFill>
                        </a:rPr>
                        <a:t>Implementation</a:t>
                      </a:r>
                    </a:p>
                  </a:txBody>
                  <a:tcPr/>
                </a:tc>
                <a:tc>
                  <a:txBody>
                    <a:bodyPr/>
                    <a:lstStyle/>
                    <a:p>
                      <a:r>
                        <a:rPr sz="2000" dirty="0">
                          <a:solidFill>
                            <a:srgbClr val="0B2E4F"/>
                          </a:solidFill>
                        </a:rPr>
                        <a:t>Python 3.11.9, sequential CPU execution</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mc:Choice xmlns:a14="http://schemas.microsoft.com/office/drawing/2010/main" Requires="a14">
          <p:sp>
            <p:nvSpPr>
              <p:cNvPr id="4" name="TextBox 3"/>
              <p:cNvSpPr txBox="1"/>
              <p:nvPr/>
            </p:nvSpPr>
            <p:spPr>
              <a:xfrm>
                <a:off x="7413813" y="1371600"/>
                <a:ext cx="3863788" cy="3543086"/>
              </a:xfrm>
              <a:prstGeom prst="rect">
                <a:avLst/>
              </a:prstGeom>
              <a:noFill/>
            </p:spPr>
            <p:txBody>
              <a:bodyPr wrap="square">
                <a:spAutoFit/>
              </a:bodyPr>
              <a:lstStyle/>
              <a:p>
                <a:r>
                  <a:rPr sz="2000" b="1" dirty="0">
                    <a:solidFill>
                      <a:srgbClr val="0B2E4F"/>
                    </a:solidFill>
                  </a:rPr>
                  <a:t>Variants:</a:t>
                </a:r>
              </a:p>
              <a:p>
                <a:pPr marL="342900" indent="-342900">
                  <a:buFont typeface="+mj-lt"/>
                  <a:buAutoNum type="arabicPeriod"/>
                </a:pPr>
                <a:r>
                  <a:rPr b="0" dirty="0">
                    <a:solidFill>
                      <a:srgbClr val="7030A0"/>
                    </a:solidFill>
                  </a:rPr>
                  <a:t>PSO baseline</a:t>
                </a:r>
              </a:p>
              <a:p>
                <a:pPr marL="342900" indent="-342900">
                  <a:buFont typeface="+mj-lt"/>
                  <a:buAutoNum type="arabicPeriod"/>
                </a:pPr>
                <a:r>
                  <a:rPr b="0" dirty="0">
                    <a:solidFill>
                      <a:srgbClr val="7030A0"/>
                    </a:solidFill>
                  </a:rPr>
                  <a:t>PSO-FCS-A3</a:t>
                </a:r>
              </a:p>
              <a:p>
                <a:pPr marL="342900" indent="-342900">
                  <a:buFont typeface="+mj-lt"/>
                  <a:buAutoNum type="arabicPeriod"/>
                </a:pPr>
                <a:r>
                  <a:rPr b="0" dirty="0">
                    <a:solidFill>
                      <a:srgbClr val="7030A0"/>
                    </a:solidFill>
                  </a:rPr>
                  <a:t>PSO-FCS-B3</a:t>
                </a:r>
              </a:p>
              <a:p>
                <a:pPr marL="342900" indent="-342900">
                  <a:buFont typeface="+mj-lt"/>
                  <a:buAutoNum type="arabicPeriod"/>
                </a:pPr>
                <a:r>
                  <a:rPr b="0" dirty="0">
                    <a:solidFill>
                      <a:srgbClr val="7030A0"/>
                    </a:solidFill>
                  </a:rPr>
                  <a:t>PSO-FCS-A5</a:t>
                </a:r>
              </a:p>
              <a:p>
                <a:pPr marL="342900" indent="-342900">
                  <a:buFont typeface="+mj-lt"/>
                  <a:buAutoNum type="arabicPeriod"/>
                </a:pPr>
                <a:r>
                  <a:rPr b="0" dirty="0">
                    <a:solidFill>
                      <a:srgbClr val="7030A0"/>
                    </a:solidFill>
                  </a:rPr>
                  <a:t>PSO-FCS-B5</a:t>
                </a:r>
              </a:p>
              <a:p>
                <a:endParaRPr b="0" dirty="0">
                  <a:solidFill>
                    <a:srgbClr val="555555"/>
                  </a:solidFill>
                </a:endParaRPr>
              </a:p>
              <a:p>
                <a:r>
                  <a:rPr sz="2000" b="1" dirty="0">
                    <a:solidFill>
                      <a:srgbClr val="0B2E4F"/>
                    </a:solidFill>
                  </a:rPr>
                  <a:t>Performance metric:</a:t>
                </a:r>
                <a:endParaRPr lang="es-CL" sz="2000" b="1" dirty="0">
                  <a:solidFill>
                    <a:srgbClr val="0B2E4F"/>
                  </a:solidFill>
                </a:endParaRPr>
              </a:p>
              <a:p>
                <a:pPr/>
                <a14:m>
                  <m:oMathPara xmlns:m="http://schemas.openxmlformats.org/officeDocument/2006/math">
                    <m:oMathParaPr>
                      <m:jc m:val="centerGroup"/>
                    </m:oMathParaPr>
                    <m:oMath xmlns:m="http://schemas.openxmlformats.org/officeDocument/2006/math">
                      <m:r>
                        <m:rPr>
                          <m:nor/>
                        </m:rPr>
                        <a:rPr lang="es-CL" sz="2000" b="1" i="0" smtClean="0">
                          <a:solidFill>
                            <a:srgbClr val="0B2E4F"/>
                          </a:solidFill>
                          <a:latin typeface="Cambria Math" panose="02040503050406030204" pitchFamily="18" charset="0"/>
                        </a:rPr>
                        <m:t>Ga</m:t>
                      </m:r>
                      <m:sSub>
                        <m:sSubPr>
                          <m:ctrlPr>
                            <a:rPr lang="es-CL" sz="2000" b="1" i="1" smtClean="0">
                              <a:solidFill>
                                <a:srgbClr val="0B2E4F"/>
                              </a:solidFill>
                              <a:latin typeface="Cambria Math" panose="02040503050406030204" pitchFamily="18" charset="0"/>
                            </a:rPr>
                          </m:ctrlPr>
                        </m:sSubPr>
                        <m:e>
                          <m:r>
                            <m:rPr>
                              <m:nor/>
                            </m:rPr>
                            <a:rPr lang="es-CL" sz="2000" b="1" i="0" smtClean="0">
                              <a:solidFill>
                                <a:srgbClr val="0B2E4F"/>
                              </a:solidFill>
                              <a:latin typeface="Cambria Math" panose="02040503050406030204" pitchFamily="18" charset="0"/>
                            </a:rPr>
                            <m:t>p</m:t>
                          </m:r>
                        </m:e>
                        <m:sub>
                          <m:r>
                            <m:rPr>
                              <m:nor/>
                            </m:rPr>
                            <a:rPr lang="es-CL" sz="2000" b="1" i="0" smtClean="0">
                              <a:solidFill>
                                <a:srgbClr val="0B2E4F"/>
                              </a:solidFill>
                              <a:latin typeface="Cambria Math" panose="02040503050406030204" pitchFamily="18" charset="0"/>
                            </a:rPr>
                            <m:t>abs</m:t>
                          </m:r>
                        </m:sub>
                      </m:sSub>
                      <m:r>
                        <a:rPr lang="es-CL" sz="2000" b="1" i="1">
                          <a:solidFill>
                            <a:srgbClr val="0B2E4F"/>
                          </a:solidFill>
                          <a:latin typeface="Cambria Math" panose="02040503050406030204" pitchFamily="18" charset="0"/>
                        </a:rPr>
                        <m:t>=</m:t>
                      </m:r>
                      <m:d>
                        <m:dPr>
                          <m:begChr m:val="|"/>
                          <m:endChr m:val="|"/>
                          <m:ctrlPr>
                            <a:rPr lang="es-CL" sz="2000" b="1" i="1">
                              <a:solidFill>
                                <a:srgbClr val="0B2E4F"/>
                              </a:solidFill>
                              <a:latin typeface="Cambria Math" panose="02040503050406030204" pitchFamily="18" charset="0"/>
                            </a:rPr>
                          </m:ctrlPr>
                        </m:dPr>
                        <m:e>
                          <m:sSub>
                            <m:sSubPr>
                              <m:ctrlPr>
                                <a:rPr lang="es-CL" sz="2000" b="1" i="1">
                                  <a:solidFill>
                                    <a:srgbClr val="0B2E4F"/>
                                  </a:solidFill>
                                  <a:latin typeface="Cambria Math" panose="02040503050406030204" pitchFamily="18" charset="0"/>
                                </a:rPr>
                              </m:ctrlPr>
                            </m:sSubPr>
                            <m:e>
                              <m:r>
                                <a:rPr lang="es-CL" sz="2000" b="1" i="1">
                                  <a:solidFill>
                                    <a:srgbClr val="0B2E4F"/>
                                  </a:solidFill>
                                  <a:latin typeface="Cambria Math" panose="02040503050406030204" pitchFamily="18" charset="0"/>
                                </a:rPr>
                                <m:t>𝒇</m:t>
                              </m:r>
                            </m:e>
                            <m:sub>
                              <m:r>
                                <m:rPr>
                                  <m:nor/>
                                </m:rPr>
                                <a:rPr lang="es-CL" sz="2000" b="1" i="0">
                                  <a:solidFill>
                                    <a:srgbClr val="0B2E4F"/>
                                  </a:solidFill>
                                  <a:latin typeface="Cambria Math" panose="02040503050406030204" pitchFamily="18" charset="0"/>
                                </a:rPr>
                                <m:t>best</m:t>
                              </m:r>
                            </m:sub>
                          </m:sSub>
                          <m:r>
                            <a:rPr lang="es-CL" sz="2000" b="1" i="1">
                              <a:solidFill>
                                <a:srgbClr val="0B2E4F"/>
                              </a:solidFill>
                              <a:latin typeface="Cambria Math" panose="02040503050406030204" pitchFamily="18" charset="0"/>
                            </a:rPr>
                            <m:t>−</m:t>
                          </m:r>
                          <m:sSub>
                            <m:sSubPr>
                              <m:ctrlPr>
                                <a:rPr lang="es-CL" sz="2000" b="1" i="1">
                                  <a:solidFill>
                                    <a:srgbClr val="0B2E4F"/>
                                  </a:solidFill>
                                  <a:latin typeface="Cambria Math" panose="02040503050406030204" pitchFamily="18" charset="0"/>
                                </a:rPr>
                              </m:ctrlPr>
                            </m:sSubPr>
                            <m:e>
                              <m:r>
                                <a:rPr lang="es-CL" sz="2000" b="1" i="1">
                                  <a:solidFill>
                                    <a:srgbClr val="0B2E4F"/>
                                  </a:solidFill>
                                  <a:latin typeface="Cambria Math" panose="02040503050406030204" pitchFamily="18" charset="0"/>
                                </a:rPr>
                                <m:t>𝒇</m:t>
                              </m:r>
                            </m:e>
                            <m:sub>
                              <m:r>
                                <m:rPr>
                                  <m:nor/>
                                </m:rPr>
                                <a:rPr lang="es-CL" sz="2000" b="1" i="0">
                                  <a:solidFill>
                                    <a:srgbClr val="0B2E4F"/>
                                  </a:solidFill>
                                  <a:latin typeface="Cambria Math" panose="02040503050406030204" pitchFamily="18" charset="0"/>
                                </a:rPr>
                                <m:t>opt</m:t>
                              </m:r>
                            </m:sub>
                          </m:sSub>
                        </m:e>
                      </m:d>
                    </m:oMath>
                  </m:oMathPara>
                </a14:m>
                <a:endParaRPr lang="es-CL" sz="2000" b="1" dirty="0">
                  <a:solidFill>
                    <a:srgbClr val="0B2E4F"/>
                  </a:solidFill>
                </a:endParaRPr>
              </a:p>
              <a:p>
                <a:pPr/>
                <a14:m>
                  <m:oMathPara xmlns:m="http://schemas.openxmlformats.org/officeDocument/2006/math">
                    <m:oMathParaPr>
                      <m:jc m:val="centerGroup"/>
                    </m:oMathParaPr>
                    <m:oMath xmlns:m="http://schemas.openxmlformats.org/officeDocument/2006/math">
                      <m:r>
                        <m:rPr>
                          <m:nor/>
                        </m:rPr>
                        <a:rPr lang="es-CL" sz="2000" b="1" i="0" smtClean="0">
                          <a:solidFill>
                            <a:srgbClr val="0B2E4F"/>
                          </a:solidFill>
                          <a:latin typeface="Cambria Math" panose="02040503050406030204" pitchFamily="18" charset="0"/>
                        </a:rPr>
                        <m:t>Gap</m:t>
                      </m:r>
                      <m:d>
                        <m:dPr>
                          <m:ctrlPr>
                            <a:rPr lang="es-CL" sz="2000" b="1" i="1">
                              <a:solidFill>
                                <a:srgbClr val="0B2E4F"/>
                              </a:solidFill>
                              <a:latin typeface="Cambria Math" panose="02040503050406030204" pitchFamily="18" charset="0"/>
                            </a:rPr>
                          </m:ctrlPr>
                        </m:dPr>
                        <m:e>
                          <m:r>
                            <a:rPr lang="es-CL" sz="2000" b="1" i="1">
                              <a:solidFill>
                                <a:srgbClr val="0B2E4F"/>
                              </a:solidFill>
                              <a:latin typeface="Cambria Math" panose="02040503050406030204" pitchFamily="18" charset="0"/>
                            </a:rPr>
                            <m:t>%</m:t>
                          </m:r>
                        </m:e>
                      </m:d>
                      <m:r>
                        <a:rPr lang="es-CL" sz="2000" b="1" i="1">
                          <a:solidFill>
                            <a:srgbClr val="0B2E4F"/>
                          </a:solidFill>
                          <a:latin typeface="Cambria Math" panose="02040503050406030204" pitchFamily="18" charset="0"/>
                        </a:rPr>
                        <m:t>=</m:t>
                      </m:r>
                      <m:f>
                        <m:fPr>
                          <m:ctrlPr>
                            <a:rPr lang="es-CL" sz="2000" b="1" i="1">
                              <a:solidFill>
                                <a:srgbClr val="0B2E4F"/>
                              </a:solidFill>
                              <a:latin typeface="Cambria Math" panose="02040503050406030204" pitchFamily="18" charset="0"/>
                            </a:rPr>
                          </m:ctrlPr>
                        </m:fPr>
                        <m:num>
                          <m:d>
                            <m:dPr>
                              <m:begChr m:val="|"/>
                              <m:endChr m:val="|"/>
                              <m:ctrlPr>
                                <a:rPr lang="es-CL" sz="2000" b="1" i="1">
                                  <a:solidFill>
                                    <a:srgbClr val="0B2E4F"/>
                                  </a:solidFill>
                                  <a:latin typeface="Cambria Math" panose="02040503050406030204" pitchFamily="18" charset="0"/>
                                </a:rPr>
                              </m:ctrlPr>
                            </m:dPr>
                            <m:e>
                              <m:sSub>
                                <m:sSubPr>
                                  <m:ctrlPr>
                                    <a:rPr lang="es-CL" sz="2000" b="1" i="1">
                                      <a:solidFill>
                                        <a:srgbClr val="0B2E4F"/>
                                      </a:solidFill>
                                      <a:latin typeface="Cambria Math" panose="02040503050406030204" pitchFamily="18" charset="0"/>
                                    </a:rPr>
                                  </m:ctrlPr>
                                </m:sSubPr>
                                <m:e>
                                  <m:r>
                                    <a:rPr lang="es-CL" sz="2000" b="1" i="1">
                                      <a:solidFill>
                                        <a:srgbClr val="0B2E4F"/>
                                      </a:solidFill>
                                      <a:latin typeface="Cambria Math" panose="02040503050406030204" pitchFamily="18" charset="0"/>
                                    </a:rPr>
                                    <m:t>𝒇</m:t>
                                  </m:r>
                                </m:e>
                                <m:sub>
                                  <m:r>
                                    <m:rPr>
                                      <m:nor/>
                                    </m:rPr>
                                    <a:rPr lang="es-CL" sz="2000" b="1" i="0">
                                      <a:solidFill>
                                        <a:srgbClr val="0B2E4F"/>
                                      </a:solidFill>
                                      <a:latin typeface="Cambria Math" panose="02040503050406030204" pitchFamily="18" charset="0"/>
                                    </a:rPr>
                                    <m:t>best</m:t>
                                  </m:r>
                                </m:sub>
                              </m:sSub>
                              <m:r>
                                <a:rPr lang="es-CL" sz="2000" b="1" i="1">
                                  <a:solidFill>
                                    <a:srgbClr val="0B2E4F"/>
                                  </a:solidFill>
                                  <a:latin typeface="Cambria Math" panose="02040503050406030204" pitchFamily="18" charset="0"/>
                                </a:rPr>
                                <m:t>−</m:t>
                              </m:r>
                              <m:sSub>
                                <m:sSubPr>
                                  <m:ctrlPr>
                                    <a:rPr lang="es-CL" sz="2000" b="1" i="1">
                                      <a:solidFill>
                                        <a:srgbClr val="0B2E4F"/>
                                      </a:solidFill>
                                      <a:latin typeface="Cambria Math" panose="02040503050406030204" pitchFamily="18" charset="0"/>
                                    </a:rPr>
                                  </m:ctrlPr>
                                </m:sSubPr>
                                <m:e>
                                  <m:r>
                                    <a:rPr lang="es-CL" sz="2000" b="1" i="1">
                                      <a:solidFill>
                                        <a:srgbClr val="0B2E4F"/>
                                      </a:solidFill>
                                      <a:latin typeface="Cambria Math" panose="02040503050406030204" pitchFamily="18" charset="0"/>
                                    </a:rPr>
                                    <m:t>𝒇</m:t>
                                  </m:r>
                                </m:e>
                                <m:sub>
                                  <m:r>
                                    <m:rPr>
                                      <m:nor/>
                                    </m:rPr>
                                    <a:rPr lang="es-CL" sz="2000" b="1" i="0">
                                      <a:solidFill>
                                        <a:srgbClr val="0B2E4F"/>
                                      </a:solidFill>
                                      <a:latin typeface="Cambria Math" panose="02040503050406030204" pitchFamily="18" charset="0"/>
                                    </a:rPr>
                                    <m:t>opt</m:t>
                                  </m:r>
                                </m:sub>
                              </m:sSub>
                            </m:e>
                          </m:d>
                        </m:num>
                        <m:den>
                          <m:d>
                            <m:dPr>
                              <m:begChr m:val="|"/>
                              <m:endChr m:val="|"/>
                              <m:ctrlPr>
                                <a:rPr lang="es-CL" sz="2000" b="1" i="1">
                                  <a:solidFill>
                                    <a:srgbClr val="0B2E4F"/>
                                  </a:solidFill>
                                  <a:latin typeface="Cambria Math" panose="02040503050406030204" pitchFamily="18" charset="0"/>
                                </a:rPr>
                              </m:ctrlPr>
                            </m:dPr>
                            <m:e>
                              <m:sSub>
                                <m:sSubPr>
                                  <m:ctrlPr>
                                    <a:rPr lang="es-CL" sz="2000" b="1" i="1">
                                      <a:solidFill>
                                        <a:srgbClr val="0B2E4F"/>
                                      </a:solidFill>
                                      <a:latin typeface="Cambria Math" panose="02040503050406030204" pitchFamily="18" charset="0"/>
                                    </a:rPr>
                                  </m:ctrlPr>
                                </m:sSubPr>
                                <m:e>
                                  <m:r>
                                    <a:rPr lang="es-CL" sz="2000" b="1" i="1">
                                      <a:solidFill>
                                        <a:srgbClr val="0B2E4F"/>
                                      </a:solidFill>
                                      <a:latin typeface="Cambria Math" panose="02040503050406030204" pitchFamily="18" charset="0"/>
                                    </a:rPr>
                                    <m:t>𝒇</m:t>
                                  </m:r>
                                </m:e>
                                <m:sub>
                                  <m:r>
                                    <m:rPr>
                                      <m:nor/>
                                    </m:rPr>
                                    <a:rPr lang="es-CL" sz="2000" b="1" i="0">
                                      <a:solidFill>
                                        <a:srgbClr val="0B2E4F"/>
                                      </a:solidFill>
                                      <a:latin typeface="Cambria Math" panose="02040503050406030204" pitchFamily="18" charset="0"/>
                                    </a:rPr>
                                    <m:t>opt</m:t>
                                  </m:r>
                                </m:sub>
                              </m:sSub>
                            </m:e>
                          </m:d>
                        </m:den>
                      </m:f>
                      <m:r>
                        <a:rPr lang="es-CL" sz="2000" b="1" i="1">
                          <a:solidFill>
                            <a:srgbClr val="0B2E4F"/>
                          </a:solidFill>
                          <a:latin typeface="Cambria Math" panose="02040503050406030204" pitchFamily="18" charset="0"/>
                        </a:rPr>
                        <m:t>×</m:t>
                      </m:r>
                      <m:r>
                        <a:rPr lang="es-CL" sz="2000" b="1" i="1">
                          <a:solidFill>
                            <a:srgbClr val="0B2E4F"/>
                          </a:solidFill>
                          <a:latin typeface="Cambria Math" panose="02040503050406030204" pitchFamily="18" charset="0"/>
                        </a:rPr>
                        <m:t>𝟏𝟎𝟎</m:t>
                      </m:r>
                    </m:oMath>
                  </m:oMathPara>
                </a14:m>
                <a:endParaRPr sz="2000" b="1" dirty="0">
                  <a:solidFill>
                    <a:srgbClr val="0B2E4F"/>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7413813" y="1371600"/>
                <a:ext cx="3863788" cy="3543086"/>
              </a:xfrm>
              <a:prstGeom prst="rect">
                <a:avLst/>
              </a:prstGeom>
              <a:blipFill>
                <a:blip r:embed="rId3"/>
                <a:stretch>
                  <a:fillRect l="-1577" t="-861"/>
                </a:stretch>
              </a:blipFill>
            </p:spPr>
            <p:txBody>
              <a:bodyPr/>
              <a:lstStyle/>
              <a:p>
                <a:r>
                  <a:rPr lang="es-CL">
                    <a:noFill/>
                  </a:rPr>
                  <a:t> </a:t>
                </a:r>
              </a:p>
            </p:txBody>
          </p:sp>
        </mc:Fallback>
      </mc:AlternateContent>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17E9A16A-C861-031C-8075-6418AB85C9EF}"/>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Results — Performance Summary</a:t>
            </a:r>
          </a:p>
        </p:txBody>
      </p:sp>
      <p:sp>
        <p:nvSpPr>
          <p:cNvPr id="3" name="TextBox 2"/>
          <p:cNvSpPr txBox="1"/>
          <p:nvPr/>
        </p:nvSpPr>
        <p:spPr>
          <a:xfrm>
            <a:off x="457200" y="960120"/>
            <a:ext cx="11247120" cy="457200"/>
          </a:xfrm>
          <a:prstGeom prst="rect">
            <a:avLst/>
          </a:prstGeom>
          <a:noFill/>
        </p:spPr>
        <p:txBody>
          <a:bodyPr wrap="none">
            <a:spAutoFit/>
          </a:bodyPr>
          <a:lstStyle/>
          <a:p>
            <a:r>
              <a:rPr sz="1600" i="1">
                <a:solidFill>
                  <a:srgbClr val="555555"/>
                </a:solidFill>
              </a:rPr>
              <a:t>Best variant per function highlighted (mean fitness, std, mean gap, time [s]).</a:t>
            </a:r>
          </a:p>
        </p:txBody>
      </p:sp>
      <p:graphicFrame>
        <p:nvGraphicFramePr>
          <p:cNvPr id="4" name="Table 3"/>
          <p:cNvGraphicFramePr>
            <a:graphicFrameLocks noGrp="1"/>
          </p:cNvGraphicFramePr>
          <p:nvPr>
            <p:extLst>
              <p:ext uri="{D42A27DB-BD31-4B8C-83A1-F6EECF244321}">
                <p14:modId xmlns:p14="http://schemas.microsoft.com/office/powerpoint/2010/main" val="339394456"/>
              </p:ext>
            </p:extLst>
          </p:nvPr>
        </p:nvGraphicFramePr>
        <p:xfrm>
          <a:off x="304800" y="1234440"/>
          <a:ext cx="11247120" cy="5440680"/>
        </p:xfrm>
        <a:graphic>
          <a:graphicData uri="http://schemas.openxmlformats.org/drawingml/2006/table">
            <a:tbl>
              <a:tblPr firstRow="1" bandRow="1">
                <a:tableStyleId>{5C22544A-7EE6-4342-B048-85BDC9FD1C3A}</a:tableStyleId>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874520">
                  <a:extLst>
                    <a:ext uri="{9D8B030D-6E8A-4147-A177-3AD203B41FA5}">
                      <a16:colId xmlns:a16="http://schemas.microsoft.com/office/drawing/2014/main" val="20005"/>
                    </a:ext>
                  </a:extLst>
                </a:gridCol>
              </a:tblGrid>
              <a:tr h="235131">
                <a:tc>
                  <a:txBody>
                    <a:bodyPr/>
                    <a:lstStyle/>
                    <a:p>
                      <a:r>
                        <a:rPr sz="1100" b="1">
                          <a:solidFill>
                            <a:srgbClr val="FFFFFF"/>
                          </a:solidFill>
                        </a:rPr>
                        <a:t>Function</a:t>
                      </a:r>
                    </a:p>
                  </a:txBody>
                  <a:tcPr>
                    <a:solidFill>
                      <a:srgbClr val="0B2E4F"/>
                    </a:solidFill>
                  </a:tcPr>
                </a:tc>
                <a:tc>
                  <a:txBody>
                    <a:bodyPr/>
                    <a:lstStyle/>
                    <a:p>
                      <a:r>
                        <a:rPr sz="1100" b="1">
                          <a:solidFill>
                            <a:srgbClr val="FFFFFF"/>
                          </a:solidFill>
                        </a:rPr>
                        <a:t>Method</a:t>
                      </a:r>
                    </a:p>
                  </a:txBody>
                  <a:tcPr>
                    <a:solidFill>
                      <a:srgbClr val="0B2E4F"/>
                    </a:solidFill>
                  </a:tcPr>
                </a:tc>
                <a:tc>
                  <a:txBody>
                    <a:bodyPr/>
                    <a:lstStyle/>
                    <a:p>
                      <a:r>
                        <a:rPr sz="1100" b="1">
                          <a:solidFill>
                            <a:srgbClr val="FFFFFF"/>
                          </a:solidFill>
                        </a:rPr>
                        <a:t>Mean Fitness</a:t>
                      </a:r>
                    </a:p>
                  </a:txBody>
                  <a:tcPr>
                    <a:solidFill>
                      <a:srgbClr val="0B2E4F"/>
                    </a:solidFill>
                  </a:tcPr>
                </a:tc>
                <a:tc>
                  <a:txBody>
                    <a:bodyPr/>
                    <a:lstStyle/>
                    <a:p>
                      <a:r>
                        <a:rPr sz="1100" b="1">
                          <a:solidFill>
                            <a:srgbClr val="FFFFFF"/>
                          </a:solidFill>
                        </a:rPr>
                        <a:t>Std Dev</a:t>
                      </a:r>
                    </a:p>
                  </a:txBody>
                  <a:tcPr>
                    <a:solidFill>
                      <a:srgbClr val="0B2E4F"/>
                    </a:solidFill>
                  </a:tcPr>
                </a:tc>
                <a:tc>
                  <a:txBody>
                    <a:bodyPr/>
                    <a:lstStyle/>
                    <a:p>
                      <a:r>
                        <a:rPr sz="1100" b="1">
                          <a:solidFill>
                            <a:srgbClr val="FFFFFF"/>
                          </a:solidFill>
                        </a:rPr>
                        <a:t>Mean Gap (%)</a:t>
                      </a:r>
                    </a:p>
                  </a:txBody>
                  <a:tcPr>
                    <a:solidFill>
                      <a:srgbClr val="0B2E4F"/>
                    </a:solidFill>
                  </a:tcPr>
                </a:tc>
                <a:tc>
                  <a:txBody>
                    <a:bodyPr/>
                    <a:lstStyle/>
                    <a:p>
                      <a:r>
                        <a:rPr sz="1100" b="1">
                          <a:solidFill>
                            <a:srgbClr val="FFFFFF"/>
                          </a:solidFill>
                        </a:rPr>
                        <a:t>Time (s)</a:t>
                      </a:r>
                    </a:p>
                  </a:txBody>
                  <a:tcPr>
                    <a:solidFill>
                      <a:srgbClr val="0B2E4F"/>
                    </a:solidFill>
                  </a:tcPr>
                </a:tc>
                <a:extLst>
                  <a:ext uri="{0D108BD9-81ED-4DB2-BD59-A6C34878D82A}">
                    <a16:rowId xmlns:a16="http://schemas.microsoft.com/office/drawing/2014/main" val="10000"/>
                  </a:ext>
                </a:extLst>
              </a:tr>
              <a:tr h="235131">
                <a:tc>
                  <a:txBody>
                    <a:bodyPr/>
                    <a:lstStyle/>
                    <a:p>
                      <a:r>
                        <a:rPr sz="1100" b="1">
                          <a:solidFill>
                            <a:srgbClr val="C0392B"/>
                          </a:solidFill>
                        </a:rPr>
                        <a:t>F1</a:t>
                      </a:r>
                    </a:p>
                  </a:txBody>
                  <a:tcPr>
                    <a:solidFill>
                      <a:srgbClr val="FDE7C8"/>
                    </a:solidFill>
                  </a:tcPr>
                </a:tc>
                <a:tc>
                  <a:txBody>
                    <a:bodyPr/>
                    <a:lstStyle/>
                    <a:p>
                      <a:r>
                        <a:rPr sz="1100" b="1">
                          <a:solidFill>
                            <a:srgbClr val="C0392B"/>
                          </a:solidFill>
                        </a:rPr>
                        <a:t>PSO</a:t>
                      </a:r>
                    </a:p>
                  </a:txBody>
                  <a:tcPr>
                    <a:solidFill>
                      <a:srgbClr val="FDE7C8"/>
                    </a:solidFill>
                  </a:tcPr>
                </a:tc>
                <a:tc>
                  <a:txBody>
                    <a:bodyPr/>
                    <a:lstStyle/>
                    <a:p>
                      <a:r>
                        <a:rPr sz="1100" b="1">
                          <a:solidFill>
                            <a:srgbClr val="C0392B"/>
                          </a:solidFill>
                        </a:rPr>
                        <a:t>23.070</a:t>
                      </a:r>
                    </a:p>
                  </a:txBody>
                  <a:tcPr>
                    <a:solidFill>
                      <a:srgbClr val="FDE7C8"/>
                    </a:solidFill>
                  </a:tcPr>
                </a:tc>
                <a:tc>
                  <a:txBody>
                    <a:bodyPr/>
                    <a:lstStyle/>
                    <a:p>
                      <a:r>
                        <a:rPr sz="1100" b="1">
                          <a:solidFill>
                            <a:srgbClr val="C0392B"/>
                          </a:solidFill>
                        </a:rPr>
                        <a:t>11.474</a:t>
                      </a:r>
                    </a:p>
                  </a:txBody>
                  <a:tcPr>
                    <a:solidFill>
                      <a:srgbClr val="FDE7C8"/>
                    </a:solidFill>
                  </a:tcPr>
                </a:tc>
                <a:tc>
                  <a:txBody>
                    <a:bodyPr/>
                    <a:lstStyle/>
                    <a:p>
                      <a:endParaRPr sz="1100" b="1" dirty="0">
                        <a:solidFill>
                          <a:srgbClr val="C0392B"/>
                        </a:solidFill>
                      </a:endParaRPr>
                    </a:p>
                  </a:txBody>
                  <a:tcPr>
                    <a:solidFill>
                      <a:srgbClr val="FDE7C8"/>
                    </a:solidFill>
                  </a:tcPr>
                </a:tc>
                <a:tc>
                  <a:txBody>
                    <a:bodyPr/>
                    <a:lstStyle/>
                    <a:p>
                      <a:r>
                        <a:rPr sz="1100" b="1">
                          <a:solidFill>
                            <a:srgbClr val="C0392B"/>
                          </a:solidFill>
                        </a:rPr>
                        <a:t>9.903</a:t>
                      </a:r>
                    </a:p>
                  </a:txBody>
                  <a:tcPr>
                    <a:solidFill>
                      <a:srgbClr val="FDE7C8"/>
                    </a:solidFill>
                  </a:tcPr>
                </a:tc>
                <a:extLst>
                  <a:ext uri="{0D108BD9-81ED-4DB2-BD59-A6C34878D82A}">
                    <a16:rowId xmlns:a16="http://schemas.microsoft.com/office/drawing/2014/main" val="10001"/>
                  </a:ext>
                </a:extLst>
              </a:tr>
              <a:tr h="235131">
                <a:tc>
                  <a:txBody>
                    <a:bodyPr/>
                    <a:lstStyle/>
                    <a:p>
                      <a:r>
                        <a:rPr sz="1100">
                          <a:solidFill>
                            <a:srgbClr val="0B2E4F"/>
                          </a:solidFill>
                        </a:rPr>
                        <a:t>F1</a:t>
                      </a:r>
                    </a:p>
                  </a:txBody>
                  <a:tcPr/>
                </a:tc>
                <a:tc>
                  <a:txBody>
                    <a:bodyPr/>
                    <a:lstStyle/>
                    <a:p>
                      <a:r>
                        <a:rPr sz="1100">
                          <a:solidFill>
                            <a:srgbClr val="0B2E4F"/>
                          </a:solidFill>
                        </a:rPr>
                        <a:t>PSO-FCS-A3</a:t>
                      </a:r>
                    </a:p>
                  </a:txBody>
                  <a:tcPr/>
                </a:tc>
                <a:tc>
                  <a:txBody>
                    <a:bodyPr/>
                    <a:lstStyle/>
                    <a:p>
                      <a:r>
                        <a:rPr sz="1100">
                          <a:solidFill>
                            <a:srgbClr val="0B2E4F"/>
                          </a:solidFill>
                        </a:rPr>
                        <a:t>74972.756</a:t>
                      </a:r>
                    </a:p>
                  </a:txBody>
                  <a:tcPr/>
                </a:tc>
                <a:tc>
                  <a:txBody>
                    <a:bodyPr/>
                    <a:lstStyle/>
                    <a:p>
                      <a:r>
                        <a:rPr sz="1100">
                          <a:solidFill>
                            <a:srgbClr val="0B2E4F"/>
                          </a:solidFill>
                        </a:rPr>
                        <a:t>3560.587</a:t>
                      </a:r>
                    </a:p>
                  </a:txBody>
                  <a:tcPr/>
                </a:tc>
                <a:tc>
                  <a:txBody>
                    <a:bodyPr/>
                    <a:lstStyle/>
                    <a:p>
                      <a:endParaRPr sz="1100">
                        <a:solidFill>
                          <a:srgbClr val="0B2E4F"/>
                        </a:solidFill>
                      </a:endParaRPr>
                    </a:p>
                  </a:txBody>
                  <a:tcPr/>
                </a:tc>
                <a:tc>
                  <a:txBody>
                    <a:bodyPr/>
                    <a:lstStyle/>
                    <a:p>
                      <a:r>
                        <a:rPr sz="1100">
                          <a:solidFill>
                            <a:srgbClr val="0B2E4F"/>
                          </a:solidFill>
                        </a:rPr>
                        <a:t>12.028</a:t>
                      </a:r>
                    </a:p>
                  </a:txBody>
                  <a:tcPr/>
                </a:tc>
                <a:extLst>
                  <a:ext uri="{0D108BD9-81ED-4DB2-BD59-A6C34878D82A}">
                    <a16:rowId xmlns:a16="http://schemas.microsoft.com/office/drawing/2014/main" val="10002"/>
                  </a:ext>
                </a:extLst>
              </a:tr>
              <a:tr h="235131">
                <a:tc>
                  <a:txBody>
                    <a:bodyPr/>
                    <a:lstStyle/>
                    <a:p>
                      <a:r>
                        <a:rPr sz="1100">
                          <a:solidFill>
                            <a:srgbClr val="0B2E4F"/>
                          </a:solidFill>
                        </a:rPr>
                        <a:t>F1</a:t>
                      </a:r>
                    </a:p>
                  </a:txBody>
                  <a:tcPr/>
                </a:tc>
                <a:tc>
                  <a:txBody>
                    <a:bodyPr/>
                    <a:lstStyle/>
                    <a:p>
                      <a:r>
                        <a:rPr sz="1100">
                          <a:solidFill>
                            <a:srgbClr val="0B2E4F"/>
                          </a:solidFill>
                        </a:rPr>
                        <a:t>PSO-FCS-A5</a:t>
                      </a:r>
                    </a:p>
                  </a:txBody>
                  <a:tcPr/>
                </a:tc>
                <a:tc>
                  <a:txBody>
                    <a:bodyPr/>
                    <a:lstStyle/>
                    <a:p>
                      <a:r>
                        <a:rPr sz="1100">
                          <a:solidFill>
                            <a:srgbClr val="0B2E4F"/>
                          </a:solidFill>
                        </a:rPr>
                        <a:t>74768.800</a:t>
                      </a:r>
                    </a:p>
                  </a:txBody>
                  <a:tcPr/>
                </a:tc>
                <a:tc>
                  <a:txBody>
                    <a:bodyPr/>
                    <a:lstStyle/>
                    <a:p>
                      <a:r>
                        <a:rPr sz="1100">
                          <a:solidFill>
                            <a:srgbClr val="0B2E4F"/>
                          </a:solidFill>
                        </a:rPr>
                        <a:t>3863.507</a:t>
                      </a:r>
                    </a:p>
                  </a:txBody>
                  <a:tcPr/>
                </a:tc>
                <a:tc>
                  <a:txBody>
                    <a:bodyPr/>
                    <a:lstStyle/>
                    <a:p>
                      <a:endParaRPr sz="1100" dirty="0">
                        <a:solidFill>
                          <a:srgbClr val="0B2E4F"/>
                        </a:solidFill>
                      </a:endParaRPr>
                    </a:p>
                  </a:txBody>
                  <a:tcPr/>
                </a:tc>
                <a:tc>
                  <a:txBody>
                    <a:bodyPr/>
                    <a:lstStyle/>
                    <a:p>
                      <a:r>
                        <a:rPr sz="1100">
                          <a:solidFill>
                            <a:srgbClr val="0B2E4F"/>
                          </a:solidFill>
                        </a:rPr>
                        <a:t>12.059</a:t>
                      </a:r>
                    </a:p>
                  </a:txBody>
                  <a:tcPr/>
                </a:tc>
                <a:extLst>
                  <a:ext uri="{0D108BD9-81ED-4DB2-BD59-A6C34878D82A}">
                    <a16:rowId xmlns:a16="http://schemas.microsoft.com/office/drawing/2014/main" val="10003"/>
                  </a:ext>
                </a:extLst>
              </a:tr>
              <a:tr h="235131">
                <a:tc>
                  <a:txBody>
                    <a:bodyPr/>
                    <a:lstStyle/>
                    <a:p>
                      <a:r>
                        <a:rPr sz="1100">
                          <a:solidFill>
                            <a:srgbClr val="0B2E4F"/>
                          </a:solidFill>
                        </a:rPr>
                        <a:t>F1</a:t>
                      </a:r>
                    </a:p>
                  </a:txBody>
                  <a:tcPr/>
                </a:tc>
                <a:tc>
                  <a:txBody>
                    <a:bodyPr/>
                    <a:lstStyle/>
                    <a:p>
                      <a:r>
                        <a:rPr sz="1100">
                          <a:solidFill>
                            <a:srgbClr val="0B2E4F"/>
                          </a:solidFill>
                        </a:rPr>
                        <a:t>PSO-FCS-B3</a:t>
                      </a:r>
                    </a:p>
                  </a:txBody>
                  <a:tcPr/>
                </a:tc>
                <a:tc>
                  <a:txBody>
                    <a:bodyPr/>
                    <a:lstStyle/>
                    <a:p>
                      <a:r>
                        <a:rPr sz="1100">
                          <a:solidFill>
                            <a:srgbClr val="0B2E4F"/>
                          </a:solidFill>
                        </a:rPr>
                        <a:t>74912.469</a:t>
                      </a:r>
                    </a:p>
                  </a:txBody>
                  <a:tcPr/>
                </a:tc>
                <a:tc>
                  <a:txBody>
                    <a:bodyPr/>
                    <a:lstStyle/>
                    <a:p>
                      <a:r>
                        <a:rPr sz="1100">
                          <a:solidFill>
                            <a:srgbClr val="0B2E4F"/>
                          </a:solidFill>
                        </a:rPr>
                        <a:t>3653.264</a:t>
                      </a:r>
                    </a:p>
                  </a:txBody>
                  <a:tcPr/>
                </a:tc>
                <a:tc>
                  <a:txBody>
                    <a:bodyPr/>
                    <a:lstStyle/>
                    <a:p>
                      <a:endParaRPr sz="1100" dirty="0">
                        <a:solidFill>
                          <a:srgbClr val="0B2E4F"/>
                        </a:solidFill>
                      </a:endParaRPr>
                    </a:p>
                  </a:txBody>
                  <a:tcPr/>
                </a:tc>
                <a:tc>
                  <a:txBody>
                    <a:bodyPr/>
                    <a:lstStyle/>
                    <a:p>
                      <a:r>
                        <a:rPr sz="1100">
                          <a:solidFill>
                            <a:srgbClr val="0B2E4F"/>
                          </a:solidFill>
                        </a:rPr>
                        <a:t>12.076</a:t>
                      </a:r>
                    </a:p>
                  </a:txBody>
                  <a:tcPr/>
                </a:tc>
                <a:extLst>
                  <a:ext uri="{0D108BD9-81ED-4DB2-BD59-A6C34878D82A}">
                    <a16:rowId xmlns:a16="http://schemas.microsoft.com/office/drawing/2014/main" val="10004"/>
                  </a:ext>
                </a:extLst>
              </a:tr>
              <a:tr h="235131">
                <a:tc>
                  <a:txBody>
                    <a:bodyPr/>
                    <a:lstStyle/>
                    <a:p>
                      <a:r>
                        <a:rPr sz="1100">
                          <a:solidFill>
                            <a:srgbClr val="0B2E4F"/>
                          </a:solidFill>
                        </a:rPr>
                        <a:t>F1</a:t>
                      </a:r>
                    </a:p>
                  </a:txBody>
                  <a:tcPr/>
                </a:tc>
                <a:tc>
                  <a:txBody>
                    <a:bodyPr/>
                    <a:lstStyle/>
                    <a:p>
                      <a:r>
                        <a:rPr sz="1100">
                          <a:solidFill>
                            <a:srgbClr val="0B2E4F"/>
                          </a:solidFill>
                        </a:rPr>
                        <a:t>PSO-FCS-B5</a:t>
                      </a:r>
                    </a:p>
                  </a:txBody>
                  <a:tcPr/>
                </a:tc>
                <a:tc>
                  <a:txBody>
                    <a:bodyPr/>
                    <a:lstStyle/>
                    <a:p>
                      <a:r>
                        <a:rPr sz="1100" dirty="0">
                          <a:solidFill>
                            <a:srgbClr val="0B2E4F"/>
                          </a:solidFill>
                        </a:rPr>
                        <a:t>76414.155</a:t>
                      </a:r>
                    </a:p>
                  </a:txBody>
                  <a:tcPr/>
                </a:tc>
                <a:tc>
                  <a:txBody>
                    <a:bodyPr/>
                    <a:lstStyle/>
                    <a:p>
                      <a:r>
                        <a:rPr sz="1100">
                          <a:solidFill>
                            <a:srgbClr val="0B2E4F"/>
                          </a:solidFill>
                        </a:rPr>
                        <a:t>3178.414</a:t>
                      </a:r>
                    </a:p>
                  </a:txBody>
                  <a:tcPr/>
                </a:tc>
                <a:tc>
                  <a:txBody>
                    <a:bodyPr/>
                    <a:lstStyle/>
                    <a:p>
                      <a:endParaRPr sz="1100" dirty="0">
                        <a:solidFill>
                          <a:srgbClr val="0B2E4F"/>
                        </a:solidFill>
                      </a:endParaRPr>
                    </a:p>
                  </a:txBody>
                  <a:tcPr/>
                </a:tc>
                <a:tc>
                  <a:txBody>
                    <a:bodyPr/>
                    <a:lstStyle/>
                    <a:p>
                      <a:r>
                        <a:rPr sz="1100">
                          <a:solidFill>
                            <a:srgbClr val="0B2E4F"/>
                          </a:solidFill>
                        </a:rPr>
                        <a:t>12.769</a:t>
                      </a:r>
                    </a:p>
                  </a:txBody>
                  <a:tcPr/>
                </a:tc>
                <a:extLst>
                  <a:ext uri="{0D108BD9-81ED-4DB2-BD59-A6C34878D82A}">
                    <a16:rowId xmlns:a16="http://schemas.microsoft.com/office/drawing/2014/main" val="10005"/>
                  </a:ext>
                </a:extLst>
              </a:tr>
              <a:tr h="235131">
                <a:tc>
                  <a:txBody>
                    <a:bodyPr/>
                    <a:lstStyle/>
                    <a:p>
                      <a:r>
                        <a:rPr sz="1100" b="1">
                          <a:solidFill>
                            <a:srgbClr val="C0392B"/>
                          </a:solidFill>
                        </a:rPr>
                        <a:t>F11</a:t>
                      </a:r>
                    </a:p>
                  </a:txBody>
                  <a:tcPr>
                    <a:solidFill>
                      <a:srgbClr val="FDE7C8"/>
                    </a:solidFill>
                  </a:tcPr>
                </a:tc>
                <a:tc>
                  <a:txBody>
                    <a:bodyPr/>
                    <a:lstStyle/>
                    <a:p>
                      <a:r>
                        <a:rPr sz="1100" b="1">
                          <a:solidFill>
                            <a:srgbClr val="C0392B"/>
                          </a:solidFill>
                        </a:rPr>
                        <a:t>PSO</a:t>
                      </a:r>
                    </a:p>
                  </a:txBody>
                  <a:tcPr>
                    <a:solidFill>
                      <a:srgbClr val="FDE7C8"/>
                    </a:solidFill>
                  </a:tcPr>
                </a:tc>
                <a:tc>
                  <a:txBody>
                    <a:bodyPr/>
                    <a:lstStyle/>
                    <a:p>
                      <a:r>
                        <a:rPr sz="1100" b="1">
                          <a:solidFill>
                            <a:srgbClr val="C0392B"/>
                          </a:solidFill>
                        </a:rPr>
                        <a:t>1.208</a:t>
                      </a:r>
                    </a:p>
                  </a:txBody>
                  <a:tcPr>
                    <a:solidFill>
                      <a:srgbClr val="FDE7C8"/>
                    </a:solidFill>
                  </a:tcPr>
                </a:tc>
                <a:tc>
                  <a:txBody>
                    <a:bodyPr/>
                    <a:lstStyle/>
                    <a:p>
                      <a:r>
                        <a:rPr sz="1100" b="1">
                          <a:solidFill>
                            <a:srgbClr val="C0392B"/>
                          </a:solidFill>
                        </a:rPr>
                        <a:t>0.103</a:t>
                      </a:r>
                    </a:p>
                  </a:txBody>
                  <a:tcPr>
                    <a:solidFill>
                      <a:srgbClr val="FDE7C8"/>
                    </a:solidFill>
                  </a:tcPr>
                </a:tc>
                <a:tc>
                  <a:txBody>
                    <a:bodyPr/>
                    <a:lstStyle/>
                    <a:p>
                      <a:endParaRPr sz="1100" b="1" dirty="0">
                        <a:solidFill>
                          <a:srgbClr val="C0392B"/>
                        </a:solidFill>
                      </a:endParaRPr>
                    </a:p>
                  </a:txBody>
                  <a:tcPr>
                    <a:solidFill>
                      <a:srgbClr val="FDE7C8"/>
                    </a:solidFill>
                  </a:tcPr>
                </a:tc>
                <a:tc>
                  <a:txBody>
                    <a:bodyPr/>
                    <a:lstStyle/>
                    <a:p>
                      <a:r>
                        <a:rPr sz="1100" b="1">
                          <a:solidFill>
                            <a:srgbClr val="C0392B"/>
                          </a:solidFill>
                        </a:rPr>
                        <a:t>10.308</a:t>
                      </a:r>
                    </a:p>
                  </a:txBody>
                  <a:tcPr>
                    <a:solidFill>
                      <a:srgbClr val="FDE7C8"/>
                    </a:solidFill>
                  </a:tcPr>
                </a:tc>
                <a:extLst>
                  <a:ext uri="{0D108BD9-81ED-4DB2-BD59-A6C34878D82A}">
                    <a16:rowId xmlns:a16="http://schemas.microsoft.com/office/drawing/2014/main" val="10006"/>
                  </a:ext>
                </a:extLst>
              </a:tr>
              <a:tr h="235131">
                <a:tc>
                  <a:txBody>
                    <a:bodyPr/>
                    <a:lstStyle/>
                    <a:p>
                      <a:r>
                        <a:rPr sz="1100">
                          <a:solidFill>
                            <a:srgbClr val="0B2E4F"/>
                          </a:solidFill>
                        </a:rPr>
                        <a:t>F11</a:t>
                      </a:r>
                    </a:p>
                  </a:txBody>
                  <a:tcPr/>
                </a:tc>
                <a:tc>
                  <a:txBody>
                    <a:bodyPr/>
                    <a:lstStyle/>
                    <a:p>
                      <a:r>
                        <a:rPr sz="1100">
                          <a:solidFill>
                            <a:srgbClr val="0B2E4F"/>
                          </a:solidFill>
                        </a:rPr>
                        <a:t>PSO-FCS-A3</a:t>
                      </a:r>
                    </a:p>
                  </a:txBody>
                  <a:tcPr/>
                </a:tc>
                <a:tc>
                  <a:txBody>
                    <a:bodyPr/>
                    <a:lstStyle/>
                    <a:p>
                      <a:r>
                        <a:rPr sz="1100">
                          <a:solidFill>
                            <a:srgbClr val="0B2E4F"/>
                          </a:solidFill>
                        </a:rPr>
                        <a:t>675.755</a:t>
                      </a:r>
                    </a:p>
                  </a:txBody>
                  <a:tcPr/>
                </a:tc>
                <a:tc>
                  <a:txBody>
                    <a:bodyPr/>
                    <a:lstStyle/>
                    <a:p>
                      <a:r>
                        <a:rPr sz="1100">
                          <a:solidFill>
                            <a:srgbClr val="0B2E4F"/>
                          </a:solidFill>
                        </a:rPr>
                        <a:t>32.045</a:t>
                      </a:r>
                    </a:p>
                  </a:txBody>
                  <a:tcPr/>
                </a:tc>
                <a:tc>
                  <a:txBody>
                    <a:bodyPr/>
                    <a:lstStyle/>
                    <a:p>
                      <a:endParaRPr sz="1100" dirty="0">
                        <a:solidFill>
                          <a:srgbClr val="0B2E4F"/>
                        </a:solidFill>
                      </a:endParaRPr>
                    </a:p>
                  </a:txBody>
                  <a:tcPr/>
                </a:tc>
                <a:tc>
                  <a:txBody>
                    <a:bodyPr/>
                    <a:lstStyle/>
                    <a:p>
                      <a:r>
                        <a:rPr sz="1100">
                          <a:solidFill>
                            <a:srgbClr val="0B2E4F"/>
                          </a:solidFill>
                        </a:rPr>
                        <a:t>12.686</a:t>
                      </a:r>
                    </a:p>
                  </a:txBody>
                  <a:tcPr/>
                </a:tc>
                <a:extLst>
                  <a:ext uri="{0D108BD9-81ED-4DB2-BD59-A6C34878D82A}">
                    <a16:rowId xmlns:a16="http://schemas.microsoft.com/office/drawing/2014/main" val="10007"/>
                  </a:ext>
                </a:extLst>
              </a:tr>
              <a:tr h="235131">
                <a:tc>
                  <a:txBody>
                    <a:bodyPr/>
                    <a:lstStyle/>
                    <a:p>
                      <a:r>
                        <a:rPr sz="1100">
                          <a:solidFill>
                            <a:srgbClr val="0B2E4F"/>
                          </a:solidFill>
                        </a:rPr>
                        <a:t>F11</a:t>
                      </a:r>
                    </a:p>
                  </a:txBody>
                  <a:tcPr/>
                </a:tc>
                <a:tc>
                  <a:txBody>
                    <a:bodyPr/>
                    <a:lstStyle/>
                    <a:p>
                      <a:r>
                        <a:rPr sz="1100">
                          <a:solidFill>
                            <a:srgbClr val="0B2E4F"/>
                          </a:solidFill>
                        </a:rPr>
                        <a:t>PSO-FCS-A5</a:t>
                      </a:r>
                    </a:p>
                  </a:txBody>
                  <a:tcPr/>
                </a:tc>
                <a:tc>
                  <a:txBody>
                    <a:bodyPr/>
                    <a:lstStyle/>
                    <a:p>
                      <a:r>
                        <a:rPr sz="1100">
                          <a:solidFill>
                            <a:srgbClr val="0B2E4F"/>
                          </a:solidFill>
                        </a:rPr>
                        <a:t>674.625</a:t>
                      </a:r>
                    </a:p>
                  </a:txBody>
                  <a:tcPr/>
                </a:tc>
                <a:tc>
                  <a:txBody>
                    <a:bodyPr/>
                    <a:lstStyle/>
                    <a:p>
                      <a:r>
                        <a:rPr sz="1100">
                          <a:solidFill>
                            <a:srgbClr val="0B2E4F"/>
                          </a:solidFill>
                        </a:rPr>
                        <a:t>34.755</a:t>
                      </a:r>
                    </a:p>
                  </a:txBody>
                  <a:tcPr/>
                </a:tc>
                <a:tc>
                  <a:txBody>
                    <a:bodyPr/>
                    <a:lstStyle/>
                    <a:p>
                      <a:endParaRPr sz="1100" dirty="0">
                        <a:solidFill>
                          <a:srgbClr val="0B2E4F"/>
                        </a:solidFill>
                      </a:endParaRPr>
                    </a:p>
                  </a:txBody>
                  <a:tcPr/>
                </a:tc>
                <a:tc>
                  <a:txBody>
                    <a:bodyPr/>
                    <a:lstStyle/>
                    <a:p>
                      <a:r>
                        <a:rPr sz="1100">
                          <a:solidFill>
                            <a:srgbClr val="0B2E4F"/>
                          </a:solidFill>
                        </a:rPr>
                        <a:t>12.072</a:t>
                      </a:r>
                    </a:p>
                  </a:txBody>
                  <a:tcPr/>
                </a:tc>
                <a:extLst>
                  <a:ext uri="{0D108BD9-81ED-4DB2-BD59-A6C34878D82A}">
                    <a16:rowId xmlns:a16="http://schemas.microsoft.com/office/drawing/2014/main" val="10008"/>
                  </a:ext>
                </a:extLst>
              </a:tr>
              <a:tr h="235131">
                <a:tc>
                  <a:txBody>
                    <a:bodyPr/>
                    <a:lstStyle/>
                    <a:p>
                      <a:r>
                        <a:rPr sz="1100">
                          <a:solidFill>
                            <a:srgbClr val="0B2E4F"/>
                          </a:solidFill>
                        </a:rPr>
                        <a:t>F11</a:t>
                      </a:r>
                    </a:p>
                  </a:txBody>
                  <a:tcPr/>
                </a:tc>
                <a:tc>
                  <a:txBody>
                    <a:bodyPr/>
                    <a:lstStyle/>
                    <a:p>
                      <a:r>
                        <a:rPr sz="1100">
                          <a:solidFill>
                            <a:srgbClr val="0B2E4F"/>
                          </a:solidFill>
                        </a:rPr>
                        <a:t>PSO-FCS-B3</a:t>
                      </a:r>
                    </a:p>
                  </a:txBody>
                  <a:tcPr/>
                </a:tc>
                <a:tc>
                  <a:txBody>
                    <a:bodyPr/>
                    <a:lstStyle/>
                    <a:p>
                      <a:r>
                        <a:rPr sz="1100">
                          <a:solidFill>
                            <a:srgbClr val="0B2E4F"/>
                          </a:solidFill>
                        </a:rPr>
                        <a:t>675.212</a:t>
                      </a:r>
                    </a:p>
                  </a:txBody>
                  <a:tcPr/>
                </a:tc>
                <a:tc>
                  <a:txBody>
                    <a:bodyPr/>
                    <a:lstStyle/>
                    <a:p>
                      <a:r>
                        <a:rPr sz="1100">
                          <a:solidFill>
                            <a:srgbClr val="0B2E4F"/>
                          </a:solidFill>
                        </a:rPr>
                        <a:t>32.879</a:t>
                      </a:r>
                    </a:p>
                  </a:txBody>
                  <a:tcPr/>
                </a:tc>
                <a:tc>
                  <a:txBody>
                    <a:bodyPr/>
                    <a:lstStyle/>
                    <a:p>
                      <a:endParaRPr sz="1100" dirty="0">
                        <a:solidFill>
                          <a:srgbClr val="0B2E4F"/>
                        </a:solidFill>
                      </a:endParaRPr>
                    </a:p>
                  </a:txBody>
                  <a:tcPr/>
                </a:tc>
                <a:tc>
                  <a:txBody>
                    <a:bodyPr/>
                    <a:lstStyle/>
                    <a:p>
                      <a:r>
                        <a:rPr sz="1100">
                          <a:solidFill>
                            <a:srgbClr val="0B2E4F"/>
                          </a:solidFill>
                        </a:rPr>
                        <a:t>12.176</a:t>
                      </a:r>
                    </a:p>
                  </a:txBody>
                  <a:tcPr/>
                </a:tc>
                <a:extLst>
                  <a:ext uri="{0D108BD9-81ED-4DB2-BD59-A6C34878D82A}">
                    <a16:rowId xmlns:a16="http://schemas.microsoft.com/office/drawing/2014/main" val="10009"/>
                  </a:ext>
                </a:extLst>
              </a:tr>
              <a:tr h="235131">
                <a:tc>
                  <a:txBody>
                    <a:bodyPr/>
                    <a:lstStyle/>
                    <a:p>
                      <a:r>
                        <a:rPr sz="1100">
                          <a:solidFill>
                            <a:srgbClr val="0B2E4F"/>
                          </a:solidFill>
                        </a:rPr>
                        <a:t>F11</a:t>
                      </a:r>
                    </a:p>
                  </a:txBody>
                  <a:tcPr>
                    <a:lnB w="28575" cap="flat" cmpd="sng" algn="ctr">
                      <a:solidFill>
                        <a:schemeClr val="tx1"/>
                      </a:solidFill>
                      <a:prstDash val="sysDash"/>
                      <a:round/>
                      <a:headEnd type="none" w="med" len="med"/>
                      <a:tailEnd type="none" w="med" len="med"/>
                    </a:lnB>
                  </a:tcPr>
                </a:tc>
                <a:tc>
                  <a:txBody>
                    <a:bodyPr/>
                    <a:lstStyle/>
                    <a:p>
                      <a:r>
                        <a:rPr sz="1100">
                          <a:solidFill>
                            <a:srgbClr val="0B2E4F"/>
                          </a:solidFill>
                        </a:rPr>
                        <a:t>PSO-FCS-B5</a:t>
                      </a:r>
                    </a:p>
                  </a:txBody>
                  <a:tcPr>
                    <a:lnB w="28575" cap="flat" cmpd="sng" algn="ctr">
                      <a:solidFill>
                        <a:schemeClr val="tx1"/>
                      </a:solidFill>
                      <a:prstDash val="sysDash"/>
                      <a:round/>
                      <a:headEnd type="none" w="med" len="med"/>
                      <a:tailEnd type="none" w="med" len="med"/>
                    </a:lnB>
                  </a:tcPr>
                </a:tc>
                <a:tc>
                  <a:txBody>
                    <a:bodyPr/>
                    <a:lstStyle/>
                    <a:p>
                      <a:r>
                        <a:rPr sz="1100">
                          <a:solidFill>
                            <a:srgbClr val="0B2E4F"/>
                          </a:solidFill>
                        </a:rPr>
                        <a:t>688.725</a:t>
                      </a:r>
                    </a:p>
                  </a:txBody>
                  <a:tcPr>
                    <a:lnB w="28575" cap="flat" cmpd="sng" algn="ctr">
                      <a:solidFill>
                        <a:schemeClr val="tx1"/>
                      </a:solidFill>
                      <a:prstDash val="sysDash"/>
                      <a:round/>
                      <a:headEnd type="none" w="med" len="med"/>
                      <a:tailEnd type="none" w="med" len="med"/>
                    </a:lnB>
                  </a:tcPr>
                </a:tc>
                <a:tc>
                  <a:txBody>
                    <a:bodyPr/>
                    <a:lstStyle/>
                    <a:p>
                      <a:r>
                        <a:rPr sz="1100">
                          <a:solidFill>
                            <a:srgbClr val="0B2E4F"/>
                          </a:solidFill>
                        </a:rPr>
                        <a:t>28.603</a:t>
                      </a:r>
                    </a:p>
                  </a:txBody>
                  <a:tcPr>
                    <a:lnB w="28575" cap="flat" cmpd="sng" algn="ctr">
                      <a:solidFill>
                        <a:schemeClr val="tx1"/>
                      </a:solidFill>
                      <a:prstDash val="sysDash"/>
                      <a:round/>
                      <a:headEnd type="none" w="med" len="med"/>
                      <a:tailEnd type="none" w="med" len="med"/>
                    </a:lnB>
                  </a:tcPr>
                </a:tc>
                <a:tc>
                  <a:txBody>
                    <a:bodyPr/>
                    <a:lstStyle/>
                    <a:p>
                      <a:endParaRPr sz="1100" dirty="0">
                        <a:solidFill>
                          <a:srgbClr val="0B2E4F"/>
                        </a:solidFill>
                      </a:endParaRPr>
                    </a:p>
                  </a:txBody>
                  <a:tcPr>
                    <a:lnB w="28575" cap="flat" cmpd="sng" algn="ctr">
                      <a:solidFill>
                        <a:schemeClr val="tx1"/>
                      </a:solidFill>
                      <a:prstDash val="sysDash"/>
                      <a:round/>
                      <a:headEnd type="none" w="med" len="med"/>
                      <a:tailEnd type="none" w="med" len="med"/>
                    </a:lnB>
                  </a:tcPr>
                </a:tc>
                <a:tc>
                  <a:txBody>
                    <a:bodyPr/>
                    <a:lstStyle/>
                    <a:p>
                      <a:r>
                        <a:rPr sz="1100" dirty="0">
                          <a:solidFill>
                            <a:srgbClr val="0B2E4F"/>
                          </a:solidFill>
                        </a:rPr>
                        <a:t>12.019</a:t>
                      </a:r>
                    </a:p>
                  </a:txBody>
                  <a:tcPr>
                    <a:lnB w="285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0010"/>
                  </a:ext>
                </a:extLst>
              </a:tr>
              <a:tr h="235131">
                <a:tc>
                  <a:txBody>
                    <a:bodyPr/>
                    <a:lstStyle/>
                    <a:p>
                      <a:r>
                        <a:rPr sz="1100">
                          <a:solidFill>
                            <a:srgbClr val="0B2E4F"/>
                          </a:solidFill>
                        </a:rPr>
                        <a:t>F21</a:t>
                      </a:r>
                    </a:p>
                  </a:txBody>
                  <a:tcPr>
                    <a:lnT w="28575" cap="flat" cmpd="sng" algn="ctr">
                      <a:solidFill>
                        <a:schemeClr val="tx1"/>
                      </a:solidFill>
                      <a:prstDash val="sysDash"/>
                      <a:round/>
                      <a:headEnd type="none" w="med" len="med"/>
                      <a:tailEnd type="none" w="med" len="med"/>
                    </a:lnT>
                  </a:tcPr>
                </a:tc>
                <a:tc>
                  <a:txBody>
                    <a:bodyPr/>
                    <a:lstStyle/>
                    <a:p>
                      <a:r>
                        <a:rPr sz="1100">
                          <a:solidFill>
                            <a:srgbClr val="0B2E4F"/>
                          </a:solidFill>
                        </a:rPr>
                        <a:t>PSO</a:t>
                      </a:r>
                    </a:p>
                  </a:txBody>
                  <a:tcPr>
                    <a:lnT w="28575" cap="flat" cmpd="sng" algn="ctr">
                      <a:solidFill>
                        <a:schemeClr val="tx1"/>
                      </a:solidFill>
                      <a:prstDash val="sysDash"/>
                      <a:round/>
                      <a:headEnd type="none" w="med" len="med"/>
                      <a:tailEnd type="none" w="med" len="med"/>
                    </a:lnT>
                  </a:tcPr>
                </a:tc>
                <a:tc>
                  <a:txBody>
                    <a:bodyPr/>
                    <a:lstStyle/>
                    <a:p>
                      <a:r>
                        <a:rPr sz="1100">
                          <a:solidFill>
                            <a:srgbClr val="0B2E4F"/>
                          </a:solidFill>
                        </a:rPr>
                        <a:t>−6.289</a:t>
                      </a:r>
                    </a:p>
                  </a:txBody>
                  <a:tcPr>
                    <a:lnT w="28575" cap="flat" cmpd="sng" algn="ctr">
                      <a:solidFill>
                        <a:schemeClr val="tx1"/>
                      </a:solidFill>
                      <a:prstDash val="sysDash"/>
                      <a:round/>
                      <a:headEnd type="none" w="med" len="med"/>
                      <a:tailEnd type="none" w="med" len="med"/>
                    </a:lnT>
                  </a:tcPr>
                </a:tc>
                <a:tc>
                  <a:txBody>
                    <a:bodyPr/>
                    <a:lstStyle/>
                    <a:p>
                      <a:r>
                        <a:rPr sz="1100">
                          <a:solidFill>
                            <a:srgbClr val="0B2E4F"/>
                          </a:solidFill>
                        </a:rPr>
                        <a:t>3.803</a:t>
                      </a:r>
                    </a:p>
                  </a:txBody>
                  <a:tcPr>
                    <a:lnT w="28575" cap="flat" cmpd="sng" algn="ctr">
                      <a:solidFill>
                        <a:schemeClr val="tx1"/>
                      </a:solidFill>
                      <a:prstDash val="sysDash"/>
                      <a:round/>
                      <a:headEnd type="none" w="med" len="med"/>
                      <a:tailEnd type="none" w="med" len="med"/>
                    </a:lnT>
                  </a:tcPr>
                </a:tc>
                <a:tc>
                  <a:txBody>
                    <a:bodyPr/>
                    <a:lstStyle/>
                    <a:p>
                      <a:r>
                        <a:rPr sz="1100">
                          <a:solidFill>
                            <a:srgbClr val="0B2E4F"/>
                          </a:solidFill>
                        </a:rPr>
                        <a:t>38.1%</a:t>
                      </a:r>
                    </a:p>
                  </a:txBody>
                  <a:tcPr>
                    <a:lnT w="28575" cap="flat" cmpd="sng" algn="ctr">
                      <a:solidFill>
                        <a:schemeClr val="tx1"/>
                      </a:solidFill>
                      <a:prstDash val="sysDash"/>
                      <a:round/>
                      <a:headEnd type="none" w="med" len="med"/>
                      <a:tailEnd type="none" w="med" len="med"/>
                    </a:lnT>
                  </a:tcPr>
                </a:tc>
                <a:tc>
                  <a:txBody>
                    <a:bodyPr/>
                    <a:lstStyle/>
                    <a:p>
                      <a:r>
                        <a:rPr sz="1100">
                          <a:solidFill>
                            <a:srgbClr val="0B2E4F"/>
                          </a:solidFill>
                        </a:rPr>
                        <a:t>5.928</a:t>
                      </a:r>
                    </a:p>
                  </a:txBody>
                  <a:tcPr>
                    <a:lnT w="28575" cap="flat" cmpd="sng" algn="ctr">
                      <a:solidFill>
                        <a:schemeClr val="tx1"/>
                      </a:solidFill>
                      <a:prstDash val="sysDash"/>
                      <a:round/>
                      <a:headEnd type="none" w="med" len="med"/>
                      <a:tailEnd type="none" w="med" len="med"/>
                    </a:lnT>
                  </a:tcPr>
                </a:tc>
                <a:extLst>
                  <a:ext uri="{0D108BD9-81ED-4DB2-BD59-A6C34878D82A}">
                    <a16:rowId xmlns:a16="http://schemas.microsoft.com/office/drawing/2014/main" val="10011"/>
                  </a:ext>
                </a:extLst>
              </a:tr>
              <a:tr h="235131">
                <a:tc>
                  <a:txBody>
                    <a:bodyPr/>
                    <a:lstStyle/>
                    <a:p>
                      <a:r>
                        <a:rPr sz="1100">
                          <a:solidFill>
                            <a:srgbClr val="0B2E4F"/>
                          </a:solidFill>
                        </a:rPr>
                        <a:t>F21</a:t>
                      </a:r>
                    </a:p>
                  </a:txBody>
                  <a:tcPr/>
                </a:tc>
                <a:tc>
                  <a:txBody>
                    <a:bodyPr/>
                    <a:lstStyle/>
                    <a:p>
                      <a:r>
                        <a:rPr sz="1100">
                          <a:solidFill>
                            <a:srgbClr val="0B2E4F"/>
                          </a:solidFill>
                        </a:rPr>
                        <a:t>PSO-FCS-A3</a:t>
                      </a:r>
                    </a:p>
                  </a:txBody>
                  <a:tcPr/>
                </a:tc>
                <a:tc>
                  <a:txBody>
                    <a:bodyPr/>
                    <a:lstStyle/>
                    <a:p>
                      <a:r>
                        <a:rPr sz="1100">
                          <a:solidFill>
                            <a:srgbClr val="0B2E4F"/>
                          </a:solidFill>
                        </a:rPr>
                        <a:t>−7.649</a:t>
                      </a:r>
                    </a:p>
                  </a:txBody>
                  <a:tcPr/>
                </a:tc>
                <a:tc>
                  <a:txBody>
                    <a:bodyPr/>
                    <a:lstStyle/>
                    <a:p>
                      <a:r>
                        <a:rPr sz="1100">
                          <a:solidFill>
                            <a:srgbClr val="0B2E4F"/>
                          </a:solidFill>
                        </a:rPr>
                        <a:t>1.598</a:t>
                      </a:r>
                    </a:p>
                  </a:txBody>
                  <a:tcPr/>
                </a:tc>
                <a:tc>
                  <a:txBody>
                    <a:bodyPr/>
                    <a:lstStyle/>
                    <a:p>
                      <a:r>
                        <a:rPr sz="1100">
                          <a:solidFill>
                            <a:srgbClr val="0B2E4F"/>
                          </a:solidFill>
                        </a:rPr>
                        <a:t>24.7%</a:t>
                      </a:r>
                    </a:p>
                  </a:txBody>
                  <a:tcPr/>
                </a:tc>
                <a:tc>
                  <a:txBody>
                    <a:bodyPr/>
                    <a:lstStyle/>
                    <a:p>
                      <a:r>
                        <a:rPr sz="1100">
                          <a:solidFill>
                            <a:srgbClr val="0B2E4F"/>
                          </a:solidFill>
                        </a:rPr>
                        <a:t>6.190</a:t>
                      </a:r>
                    </a:p>
                  </a:txBody>
                  <a:tcPr/>
                </a:tc>
                <a:extLst>
                  <a:ext uri="{0D108BD9-81ED-4DB2-BD59-A6C34878D82A}">
                    <a16:rowId xmlns:a16="http://schemas.microsoft.com/office/drawing/2014/main" val="10012"/>
                  </a:ext>
                </a:extLst>
              </a:tr>
              <a:tr h="235131">
                <a:tc>
                  <a:txBody>
                    <a:bodyPr/>
                    <a:lstStyle/>
                    <a:p>
                      <a:r>
                        <a:rPr sz="1100" b="1">
                          <a:solidFill>
                            <a:srgbClr val="C0392B"/>
                          </a:solidFill>
                        </a:rPr>
                        <a:t>F21</a:t>
                      </a:r>
                    </a:p>
                  </a:txBody>
                  <a:tcPr>
                    <a:solidFill>
                      <a:srgbClr val="FDE7C8"/>
                    </a:solidFill>
                  </a:tcPr>
                </a:tc>
                <a:tc>
                  <a:txBody>
                    <a:bodyPr/>
                    <a:lstStyle/>
                    <a:p>
                      <a:r>
                        <a:rPr sz="1100" b="1">
                          <a:solidFill>
                            <a:srgbClr val="C0392B"/>
                          </a:solidFill>
                        </a:rPr>
                        <a:t>PSO-FCS-A5</a:t>
                      </a:r>
                    </a:p>
                  </a:txBody>
                  <a:tcPr>
                    <a:solidFill>
                      <a:srgbClr val="FDE7C8"/>
                    </a:solidFill>
                  </a:tcPr>
                </a:tc>
                <a:tc>
                  <a:txBody>
                    <a:bodyPr/>
                    <a:lstStyle/>
                    <a:p>
                      <a:r>
                        <a:rPr sz="1100" b="1">
                          <a:solidFill>
                            <a:srgbClr val="C0392B"/>
                          </a:solidFill>
                        </a:rPr>
                        <a:t>−7.749</a:t>
                      </a:r>
                    </a:p>
                  </a:txBody>
                  <a:tcPr>
                    <a:solidFill>
                      <a:srgbClr val="FDE7C8"/>
                    </a:solidFill>
                  </a:tcPr>
                </a:tc>
                <a:tc>
                  <a:txBody>
                    <a:bodyPr/>
                    <a:lstStyle/>
                    <a:p>
                      <a:r>
                        <a:rPr sz="1100" b="1">
                          <a:solidFill>
                            <a:srgbClr val="C0392B"/>
                          </a:solidFill>
                        </a:rPr>
                        <a:t>1.275</a:t>
                      </a:r>
                    </a:p>
                  </a:txBody>
                  <a:tcPr>
                    <a:solidFill>
                      <a:srgbClr val="FDE7C8"/>
                    </a:solidFill>
                  </a:tcPr>
                </a:tc>
                <a:tc>
                  <a:txBody>
                    <a:bodyPr/>
                    <a:lstStyle/>
                    <a:p>
                      <a:r>
                        <a:rPr sz="1100" b="1">
                          <a:solidFill>
                            <a:srgbClr val="C0392B"/>
                          </a:solidFill>
                        </a:rPr>
                        <a:t>23.7%</a:t>
                      </a:r>
                    </a:p>
                  </a:txBody>
                  <a:tcPr>
                    <a:solidFill>
                      <a:srgbClr val="FDE7C8"/>
                    </a:solidFill>
                  </a:tcPr>
                </a:tc>
                <a:tc>
                  <a:txBody>
                    <a:bodyPr/>
                    <a:lstStyle/>
                    <a:p>
                      <a:r>
                        <a:rPr sz="1100" b="1">
                          <a:solidFill>
                            <a:srgbClr val="C0392B"/>
                          </a:solidFill>
                        </a:rPr>
                        <a:t>6.385</a:t>
                      </a:r>
                    </a:p>
                  </a:txBody>
                  <a:tcPr>
                    <a:solidFill>
                      <a:srgbClr val="FDE7C8"/>
                    </a:solidFill>
                  </a:tcPr>
                </a:tc>
                <a:extLst>
                  <a:ext uri="{0D108BD9-81ED-4DB2-BD59-A6C34878D82A}">
                    <a16:rowId xmlns:a16="http://schemas.microsoft.com/office/drawing/2014/main" val="10013"/>
                  </a:ext>
                </a:extLst>
              </a:tr>
              <a:tr h="235131">
                <a:tc>
                  <a:txBody>
                    <a:bodyPr/>
                    <a:lstStyle/>
                    <a:p>
                      <a:r>
                        <a:rPr sz="1100">
                          <a:solidFill>
                            <a:srgbClr val="0B2E4F"/>
                          </a:solidFill>
                        </a:rPr>
                        <a:t>F21</a:t>
                      </a:r>
                    </a:p>
                  </a:txBody>
                  <a:tcPr/>
                </a:tc>
                <a:tc>
                  <a:txBody>
                    <a:bodyPr/>
                    <a:lstStyle/>
                    <a:p>
                      <a:r>
                        <a:rPr sz="1100">
                          <a:solidFill>
                            <a:srgbClr val="0B2E4F"/>
                          </a:solidFill>
                        </a:rPr>
                        <a:t>PSO-FCS-B3</a:t>
                      </a:r>
                    </a:p>
                  </a:txBody>
                  <a:tcPr/>
                </a:tc>
                <a:tc>
                  <a:txBody>
                    <a:bodyPr/>
                    <a:lstStyle/>
                    <a:p>
                      <a:r>
                        <a:rPr sz="1100">
                          <a:solidFill>
                            <a:srgbClr val="0B2E4F"/>
                          </a:solidFill>
                        </a:rPr>
                        <a:t>−7.683</a:t>
                      </a:r>
                    </a:p>
                  </a:txBody>
                  <a:tcPr/>
                </a:tc>
                <a:tc>
                  <a:txBody>
                    <a:bodyPr/>
                    <a:lstStyle/>
                    <a:p>
                      <a:r>
                        <a:rPr sz="1100">
                          <a:solidFill>
                            <a:srgbClr val="0B2E4F"/>
                          </a:solidFill>
                        </a:rPr>
                        <a:t>1.659</a:t>
                      </a:r>
                    </a:p>
                  </a:txBody>
                  <a:tcPr/>
                </a:tc>
                <a:tc>
                  <a:txBody>
                    <a:bodyPr/>
                    <a:lstStyle/>
                    <a:p>
                      <a:r>
                        <a:rPr sz="1100">
                          <a:solidFill>
                            <a:srgbClr val="0B2E4F"/>
                          </a:solidFill>
                        </a:rPr>
                        <a:t>24.3%</a:t>
                      </a:r>
                    </a:p>
                  </a:txBody>
                  <a:tcPr/>
                </a:tc>
                <a:tc>
                  <a:txBody>
                    <a:bodyPr/>
                    <a:lstStyle/>
                    <a:p>
                      <a:r>
                        <a:rPr sz="1100">
                          <a:solidFill>
                            <a:srgbClr val="0B2E4F"/>
                          </a:solidFill>
                        </a:rPr>
                        <a:t>6.216</a:t>
                      </a:r>
                    </a:p>
                  </a:txBody>
                  <a:tcPr/>
                </a:tc>
                <a:extLst>
                  <a:ext uri="{0D108BD9-81ED-4DB2-BD59-A6C34878D82A}">
                    <a16:rowId xmlns:a16="http://schemas.microsoft.com/office/drawing/2014/main" val="10014"/>
                  </a:ext>
                </a:extLst>
              </a:tr>
              <a:tr h="235131">
                <a:tc>
                  <a:txBody>
                    <a:bodyPr/>
                    <a:lstStyle/>
                    <a:p>
                      <a:r>
                        <a:rPr sz="1100">
                          <a:solidFill>
                            <a:srgbClr val="0B2E4F"/>
                          </a:solidFill>
                        </a:rPr>
                        <a:t>F21</a:t>
                      </a:r>
                    </a:p>
                  </a:txBody>
                  <a:tcPr/>
                </a:tc>
                <a:tc>
                  <a:txBody>
                    <a:bodyPr/>
                    <a:lstStyle/>
                    <a:p>
                      <a:r>
                        <a:rPr sz="1100">
                          <a:solidFill>
                            <a:srgbClr val="0B2E4F"/>
                          </a:solidFill>
                        </a:rPr>
                        <a:t>PSO-FCS-B5</a:t>
                      </a:r>
                    </a:p>
                  </a:txBody>
                  <a:tcPr/>
                </a:tc>
                <a:tc>
                  <a:txBody>
                    <a:bodyPr/>
                    <a:lstStyle/>
                    <a:p>
                      <a:r>
                        <a:rPr sz="1100">
                          <a:solidFill>
                            <a:srgbClr val="0B2E4F"/>
                          </a:solidFill>
                        </a:rPr>
                        <a:t>−7.699</a:t>
                      </a:r>
                    </a:p>
                  </a:txBody>
                  <a:tcPr/>
                </a:tc>
                <a:tc>
                  <a:txBody>
                    <a:bodyPr/>
                    <a:lstStyle/>
                    <a:p>
                      <a:r>
                        <a:rPr sz="1100">
                          <a:solidFill>
                            <a:srgbClr val="0B2E4F"/>
                          </a:solidFill>
                        </a:rPr>
                        <a:t>1.602</a:t>
                      </a:r>
                    </a:p>
                  </a:txBody>
                  <a:tcPr/>
                </a:tc>
                <a:tc>
                  <a:txBody>
                    <a:bodyPr/>
                    <a:lstStyle/>
                    <a:p>
                      <a:r>
                        <a:rPr sz="1100">
                          <a:solidFill>
                            <a:srgbClr val="0B2E4F"/>
                          </a:solidFill>
                        </a:rPr>
                        <a:t>24.2%</a:t>
                      </a:r>
                    </a:p>
                  </a:txBody>
                  <a:tcPr/>
                </a:tc>
                <a:tc>
                  <a:txBody>
                    <a:bodyPr/>
                    <a:lstStyle/>
                    <a:p>
                      <a:r>
                        <a:rPr sz="1100">
                          <a:solidFill>
                            <a:srgbClr val="0B2E4F"/>
                          </a:solidFill>
                        </a:rPr>
                        <a:t>6.353</a:t>
                      </a:r>
                    </a:p>
                  </a:txBody>
                  <a:tcPr/>
                </a:tc>
                <a:extLst>
                  <a:ext uri="{0D108BD9-81ED-4DB2-BD59-A6C34878D82A}">
                    <a16:rowId xmlns:a16="http://schemas.microsoft.com/office/drawing/2014/main" val="10015"/>
                  </a:ext>
                </a:extLst>
              </a:tr>
              <a:tr h="235131">
                <a:tc>
                  <a:txBody>
                    <a:bodyPr/>
                    <a:lstStyle/>
                    <a:p>
                      <a:r>
                        <a:rPr sz="1100">
                          <a:solidFill>
                            <a:srgbClr val="0B2E4F"/>
                          </a:solidFill>
                        </a:rPr>
                        <a:t>F23</a:t>
                      </a:r>
                    </a:p>
                  </a:txBody>
                  <a:tcPr/>
                </a:tc>
                <a:tc>
                  <a:txBody>
                    <a:bodyPr/>
                    <a:lstStyle/>
                    <a:p>
                      <a:r>
                        <a:rPr sz="1100">
                          <a:solidFill>
                            <a:srgbClr val="0B2E4F"/>
                          </a:solidFill>
                        </a:rPr>
                        <a:t>PSO</a:t>
                      </a:r>
                    </a:p>
                  </a:txBody>
                  <a:tcPr/>
                </a:tc>
                <a:tc>
                  <a:txBody>
                    <a:bodyPr/>
                    <a:lstStyle/>
                    <a:p>
                      <a:r>
                        <a:rPr sz="1100">
                          <a:solidFill>
                            <a:srgbClr val="0B2E4F"/>
                          </a:solidFill>
                        </a:rPr>
                        <a:t>−7.519</a:t>
                      </a:r>
                    </a:p>
                  </a:txBody>
                  <a:tcPr/>
                </a:tc>
                <a:tc>
                  <a:txBody>
                    <a:bodyPr/>
                    <a:lstStyle/>
                    <a:p>
                      <a:r>
                        <a:rPr sz="1100">
                          <a:solidFill>
                            <a:srgbClr val="0B2E4F"/>
                          </a:solidFill>
                        </a:rPr>
                        <a:t>3.877</a:t>
                      </a:r>
                    </a:p>
                  </a:txBody>
                  <a:tcPr/>
                </a:tc>
                <a:tc>
                  <a:txBody>
                    <a:bodyPr/>
                    <a:lstStyle/>
                    <a:p>
                      <a:r>
                        <a:rPr sz="1100">
                          <a:solidFill>
                            <a:srgbClr val="0B2E4F"/>
                          </a:solidFill>
                        </a:rPr>
                        <a:t>28.6%</a:t>
                      </a:r>
                    </a:p>
                  </a:txBody>
                  <a:tcPr/>
                </a:tc>
                <a:tc>
                  <a:txBody>
                    <a:bodyPr/>
                    <a:lstStyle/>
                    <a:p>
                      <a:r>
                        <a:rPr sz="1100">
                          <a:solidFill>
                            <a:srgbClr val="0B2E4F"/>
                          </a:solidFill>
                        </a:rPr>
                        <a:t>10.761</a:t>
                      </a:r>
                    </a:p>
                  </a:txBody>
                  <a:tcPr/>
                </a:tc>
                <a:extLst>
                  <a:ext uri="{0D108BD9-81ED-4DB2-BD59-A6C34878D82A}">
                    <a16:rowId xmlns:a16="http://schemas.microsoft.com/office/drawing/2014/main" val="10016"/>
                  </a:ext>
                </a:extLst>
              </a:tr>
              <a:tr h="235131">
                <a:tc>
                  <a:txBody>
                    <a:bodyPr/>
                    <a:lstStyle/>
                    <a:p>
                      <a:r>
                        <a:rPr sz="1100" b="1">
                          <a:solidFill>
                            <a:srgbClr val="C0392B"/>
                          </a:solidFill>
                        </a:rPr>
                        <a:t>F23</a:t>
                      </a:r>
                    </a:p>
                  </a:txBody>
                  <a:tcPr>
                    <a:solidFill>
                      <a:srgbClr val="FDE7C8"/>
                    </a:solidFill>
                  </a:tcPr>
                </a:tc>
                <a:tc>
                  <a:txBody>
                    <a:bodyPr/>
                    <a:lstStyle/>
                    <a:p>
                      <a:r>
                        <a:rPr sz="1100" b="1">
                          <a:solidFill>
                            <a:srgbClr val="C0392B"/>
                          </a:solidFill>
                        </a:rPr>
                        <a:t>PSO-FCS-A3</a:t>
                      </a:r>
                    </a:p>
                  </a:txBody>
                  <a:tcPr>
                    <a:solidFill>
                      <a:srgbClr val="FDE7C8"/>
                    </a:solidFill>
                  </a:tcPr>
                </a:tc>
                <a:tc>
                  <a:txBody>
                    <a:bodyPr/>
                    <a:lstStyle/>
                    <a:p>
                      <a:r>
                        <a:rPr sz="1100" b="1">
                          <a:solidFill>
                            <a:srgbClr val="C0392B"/>
                          </a:solidFill>
                        </a:rPr>
                        <a:t>−8.203</a:t>
                      </a:r>
                    </a:p>
                  </a:txBody>
                  <a:tcPr>
                    <a:solidFill>
                      <a:srgbClr val="FDE7C8"/>
                    </a:solidFill>
                  </a:tcPr>
                </a:tc>
                <a:tc>
                  <a:txBody>
                    <a:bodyPr/>
                    <a:lstStyle/>
                    <a:p>
                      <a:r>
                        <a:rPr sz="1100" b="1">
                          <a:solidFill>
                            <a:srgbClr val="C0392B"/>
                          </a:solidFill>
                        </a:rPr>
                        <a:t>1.419</a:t>
                      </a:r>
                    </a:p>
                  </a:txBody>
                  <a:tcPr>
                    <a:solidFill>
                      <a:srgbClr val="FDE7C8"/>
                    </a:solidFill>
                  </a:tcPr>
                </a:tc>
                <a:tc>
                  <a:txBody>
                    <a:bodyPr/>
                    <a:lstStyle/>
                    <a:p>
                      <a:r>
                        <a:rPr sz="1100" b="1">
                          <a:solidFill>
                            <a:srgbClr val="C0392B"/>
                          </a:solidFill>
                        </a:rPr>
                        <a:t>22.1%</a:t>
                      </a:r>
                    </a:p>
                  </a:txBody>
                  <a:tcPr>
                    <a:solidFill>
                      <a:srgbClr val="FDE7C8"/>
                    </a:solidFill>
                  </a:tcPr>
                </a:tc>
                <a:tc>
                  <a:txBody>
                    <a:bodyPr/>
                    <a:lstStyle/>
                    <a:p>
                      <a:r>
                        <a:rPr sz="1100" b="1">
                          <a:solidFill>
                            <a:srgbClr val="C0392B"/>
                          </a:solidFill>
                        </a:rPr>
                        <a:t>10.973</a:t>
                      </a:r>
                    </a:p>
                  </a:txBody>
                  <a:tcPr>
                    <a:solidFill>
                      <a:srgbClr val="FDE7C8"/>
                    </a:solidFill>
                  </a:tcPr>
                </a:tc>
                <a:extLst>
                  <a:ext uri="{0D108BD9-81ED-4DB2-BD59-A6C34878D82A}">
                    <a16:rowId xmlns:a16="http://schemas.microsoft.com/office/drawing/2014/main" val="10017"/>
                  </a:ext>
                </a:extLst>
              </a:tr>
              <a:tr h="235131">
                <a:tc>
                  <a:txBody>
                    <a:bodyPr/>
                    <a:lstStyle/>
                    <a:p>
                      <a:r>
                        <a:rPr sz="1100">
                          <a:solidFill>
                            <a:srgbClr val="0B2E4F"/>
                          </a:solidFill>
                        </a:rPr>
                        <a:t>F23</a:t>
                      </a:r>
                    </a:p>
                  </a:txBody>
                  <a:tcPr/>
                </a:tc>
                <a:tc>
                  <a:txBody>
                    <a:bodyPr/>
                    <a:lstStyle/>
                    <a:p>
                      <a:r>
                        <a:rPr sz="1100">
                          <a:solidFill>
                            <a:srgbClr val="0B2E4F"/>
                          </a:solidFill>
                        </a:rPr>
                        <a:t>PSO-FCS-A5</a:t>
                      </a:r>
                    </a:p>
                  </a:txBody>
                  <a:tcPr/>
                </a:tc>
                <a:tc>
                  <a:txBody>
                    <a:bodyPr/>
                    <a:lstStyle/>
                    <a:p>
                      <a:r>
                        <a:rPr sz="1100">
                          <a:solidFill>
                            <a:srgbClr val="0B2E4F"/>
                          </a:solidFill>
                        </a:rPr>
                        <a:t>−8.133</a:t>
                      </a:r>
                    </a:p>
                  </a:txBody>
                  <a:tcPr/>
                </a:tc>
                <a:tc>
                  <a:txBody>
                    <a:bodyPr/>
                    <a:lstStyle/>
                    <a:p>
                      <a:r>
                        <a:rPr sz="1100">
                          <a:solidFill>
                            <a:srgbClr val="0B2E4F"/>
                          </a:solidFill>
                        </a:rPr>
                        <a:t>1.279</a:t>
                      </a:r>
                    </a:p>
                  </a:txBody>
                  <a:tcPr/>
                </a:tc>
                <a:tc>
                  <a:txBody>
                    <a:bodyPr/>
                    <a:lstStyle/>
                    <a:p>
                      <a:r>
                        <a:rPr sz="1100">
                          <a:solidFill>
                            <a:srgbClr val="0B2E4F"/>
                          </a:solidFill>
                        </a:rPr>
                        <a:t>22.8%</a:t>
                      </a:r>
                    </a:p>
                  </a:txBody>
                  <a:tcPr/>
                </a:tc>
                <a:tc>
                  <a:txBody>
                    <a:bodyPr/>
                    <a:lstStyle/>
                    <a:p>
                      <a:r>
                        <a:rPr sz="1100">
                          <a:solidFill>
                            <a:srgbClr val="0B2E4F"/>
                          </a:solidFill>
                        </a:rPr>
                        <a:t>11.145</a:t>
                      </a:r>
                    </a:p>
                  </a:txBody>
                  <a:tcPr/>
                </a:tc>
                <a:extLst>
                  <a:ext uri="{0D108BD9-81ED-4DB2-BD59-A6C34878D82A}">
                    <a16:rowId xmlns:a16="http://schemas.microsoft.com/office/drawing/2014/main" val="10018"/>
                  </a:ext>
                </a:extLst>
              </a:tr>
              <a:tr h="235131">
                <a:tc>
                  <a:txBody>
                    <a:bodyPr/>
                    <a:lstStyle/>
                    <a:p>
                      <a:r>
                        <a:rPr sz="1100">
                          <a:solidFill>
                            <a:srgbClr val="0B2E4F"/>
                          </a:solidFill>
                        </a:rPr>
                        <a:t>F23</a:t>
                      </a:r>
                    </a:p>
                  </a:txBody>
                  <a:tcPr/>
                </a:tc>
                <a:tc>
                  <a:txBody>
                    <a:bodyPr/>
                    <a:lstStyle/>
                    <a:p>
                      <a:r>
                        <a:rPr sz="1100">
                          <a:solidFill>
                            <a:srgbClr val="0B2E4F"/>
                          </a:solidFill>
                        </a:rPr>
                        <a:t>PSO-FCS-B3</a:t>
                      </a:r>
                    </a:p>
                  </a:txBody>
                  <a:tcPr/>
                </a:tc>
                <a:tc>
                  <a:txBody>
                    <a:bodyPr/>
                    <a:lstStyle/>
                    <a:p>
                      <a:r>
                        <a:rPr sz="1100">
                          <a:solidFill>
                            <a:srgbClr val="0B2E4F"/>
                          </a:solidFill>
                        </a:rPr>
                        <a:t>−8.139</a:t>
                      </a:r>
                    </a:p>
                  </a:txBody>
                  <a:tcPr/>
                </a:tc>
                <a:tc>
                  <a:txBody>
                    <a:bodyPr/>
                    <a:lstStyle/>
                    <a:p>
                      <a:r>
                        <a:rPr sz="1100">
                          <a:solidFill>
                            <a:srgbClr val="0B2E4F"/>
                          </a:solidFill>
                        </a:rPr>
                        <a:t>1.243</a:t>
                      </a:r>
                    </a:p>
                  </a:txBody>
                  <a:tcPr/>
                </a:tc>
                <a:tc>
                  <a:txBody>
                    <a:bodyPr/>
                    <a:lstStyle/>
                    <a:p>
                      <a:r>
                        <a:rPr sz="1100">
                          <a:solidFill>
                            <a:srgbClr val="0B2E4F"/>
                          </a:solidFill>
                        </a:rPr>
                        <a:t>22.8%</a:t>
                      </a:r>
                    </a:p>
                  </a:txBody>
                  <a:tcPr/>
                </a:tc>
                <a:tc>
                  <a:txBody>
                    <a:bodyPr/>
                    <a:lstStyle/>
                    <a:p>
                      <a:r>
                        <a:rPr sz="1100">
                          <a:solidFill>
                            <a:srgbClr val="0B2E4F"/>
                          </a:solidFill>
                        </a:rPr>
                        <a:t>10.979</a:t>
                      </a:r>
                    </a:p>
                  </a:txBody>
                  <a:tcPr/>
                </a:tc>
                <a:extLst>
                  <a:ext uri="{0D108BD9-81ED-4DB2-BD59-A6C34878D82A}">
                    <a16:rowId xmlns:a16="http://schemas.microsoft.com/office/drawing/2014/main" val="10019"/>
                  </a:ext>
                </a:extLst>
              </a:tr>
              <a:tr h="235140">
                <a:tc>
                  <a:txBody>
                    <a:bodyPr/>
                    <a:lstStyle/>
                    <a:p>
                      <a:r>
                        <a:rPr sz="1100">
                          <a:solidFill>
                            <a:srgbClr val="0B2E4F"/>
                          </a:solidFill>
                        </a:rPr>
                        <a:t>F23</a:t>
                      </a:r>
                    </a:p>
                  </a:txBody>
                  <a:tcPr/>
                </a:tc>
                <a:tc>
                  <a:txBody>
                    <a:bodyPr/>
                    <a:lstStyle/>
                    <a:p>
                      <a:r>
                        <a:rPr sz="1100">
                          <a:solidFill>
                            <a:srgbClr val="0B2E4F"/>
                          </a:solidFill>
                        </a:rPr>
                        <a:t>PSO-FCS-B5</a:t>
                      </a:r>
                    </a:p>
                  </a:txBody>
                  <a:tcPr/>
                </a:tc>
                <a:tc>
                  <a:txBody>
                    <a:bodyPr/>
                    <a:lstStyle/>
                    <a:p>
                      <a:r>
                        <a:rPr sz="1100">
                          <a:solidFill>
                            <a:srgbClr val="0B2E4F"/>
                          </a:solidFill>
                        </a:rPr>
                        <a:t>−8.124</a:t>
                      </a:r>
                    </a:p>
                  </a:txBody>
                  <a:tcPr/>
                </a:tc>
                <a:tc>
                  <a:txBody>
                    <a:bodyPr/>
                    <a:lstStyle/>
                    <a:p>
                      <a:r>
                        <a:rPr sz="1100">
                          <a:solidFill>
                            <a:srgbClr val="0B2E4F"/>
                          </a:solidFill>
                        </a:rPr>
                        <a:t>1.339</a:t>
                      </a:r>
                    </a:p>
                  </a:txBody>
                  <a:tcPr/>
                </a:tc>
                <a:tc>
                  <a:txBody>
                    <a:bodyPr/>
                    <a:lstStyle/>
                    <a:p>
                      <a:r>
                        <a:rPr sz="1100">
                          <a:solidFill>
                            <a:srgbClr val="0B2E4F"/>
                          </a:solidFill>
                        </a:rPr>
                        <a:t>22.9%</a:t>
                      </a:r>
                    </a:p>
                  </a:txBody>
                  <a:tcPr/>
                </a:tc>
                <a:tc>
                  <a:txBody>
                    <a:bodyPr/>
                    <a:lstStyle/>
                    <a:p>
                      <a:r>
                        <a:rPr sz="1100" dirty="0">
                          <a:solidFill>
                            <a:srgbClr val="0B2E4F"/>
                          </a:solidFill>
                        </a:rPr>
                        <a:t>11.133</a:t>
                      </a:r>
                    </a:p>
                  </a:txBody>
                  <a:tcPr/>
                </a:tc>
                <a:extLst>
                  <a:ext uri="{0D108BD9-81ED-4DB2-BD59-A6C34878D82A}">
                    <a16:rowId xmlns:a16="http://schemas.microsoft.com/office/drawing/2014/main" val="10020"/>
                  </a:ext>
                </a:extLst>
              </a:tr>
            </a:tbl>
          </a:graphicData>
        </a:graphic>
      </p:graphicFrame>
      <p:sp>
        <p:nvSpPr>
          <p:cNvPr id="5" name="TextBox 4"/>
          <p:cNvSpPr txBox="1"/>
          <p:nvPr/>
        </p:nvSpPr>
        <p:spPr>
          <a:xfrm>
            <a:off x="9235440" y="667512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CFA9E012-9132-93FC-56A3-93411CEFA44C}"/>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Main Insight: the Effect Is Problem-Dependent</a:t>
            </a:r>
          </a:p>
        </p:txBody>
      </p:sp>
      <p:graphicFrame>
        <p:nvGraphicFramePr>
          <p:cNvPr id="3" name="Table 2"/>
          <p:cNvGraphicFramePr>
            <a:graphicFrameLocks noGrp="1"/>
          </p:cNvGraphicFramePr>
          <p:nvPr>
            <p:extLst>
              <p:ext uri="{D42A27DB-BD31-4B8C-83A1-F6EECF244321}">
                <p14:modId xmlns:p14="http://schemas.microsoft.com/office/powerpoint/2010/main" val="154811608"/>
              </p:ext>
            </p:extLst>
          </p:nvPr>
        </p:nvGraphicFramePr>
        <p:xfrm>
          <a:off x="640080" y="1554480"/>
          <a:ext cx="10972800" cy="41148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822960">
                <a:tc>
                  <a:txBody>
                    <a:bodyPr/>
                    <a:lstStyle/>
                    <a:p>
                      <a:r>
                        <a:rPr sz="2000" b="1">
                          <a:solidFill>
                            <a:srgbClr val="FFFFFF"/>
                          </a:solidFill>
                        </a:rPr>
                        <a:t>Smooth / regular landscapes (F1, F11)</a:t>
                      </a:r>
                    </a:p>
                  </a:txBody>
                  <a:tcPr>
                    <a:solidFill>
                      <a:srgbClr val="0B2E4F"/>
                    </a:solidFill>
                  </a:tcPr>
                </a:tc>
                <a:tc>
                  <a:txBody>
                    <a:bodyPr/>
                    <a:lstStyle/>
                    <a:p>
                      <a:r>
                        <a:rPr sz="2000" b="1">
                          <a:solidFill>
                            <a:srgbClr val="FFFFFF"/>
                          </a:solidFill>
                        </a:rPr>
                        <a:t>Rugged multimodal (F21, F23)</a:t>
                      </a:r>
                    </a:p>
                  </a:txBody>
                  <a:tcPr>
                    <a:solidFill>
                      <a:srgbClr val="0B2E4F"/>
                    </a:solidFill>
                  </a:tcPr>
                </a:tc>
                <a:extLst>
                  <a:ext uri="{0D108BD9-81ED-4DB2-BD59-A6C34878D82A}">
                    <a16:rowId xmlns:a16="http://schemas.microsoft.com/office/drawing/2014/main" val="10000"/>
                  </a:ext>
                </a:extLst>
              </a:tr>
              <a:tr h="822960">
                <a:tc>
                  <a:txBody>
                    <a:bodyPr/>
                    <a:lstStyle/>
                    <a:p>
                      <a:r>
                        <a:rPr sz="2000" dirty="0">
                          <a:solidFill>
                            <a:srgbClr val="0B2E4F"/>
                          </a:solidFill>
                        </a:rPr>
                        <a:t>Baseline PSO dominates</a:t>
                      </a:r>
                    </a:p>
                  </a:txBody>
                  <a:tcPr/>
                </a:tc>
                <a:tc>
                  <a:txBody>
                    <a:bodyPr/>
                    <a:lstStyle/>
                    <a:p>
                      <a:r>
                        <a:rPr sz="2000">
                          <a:solidFill>
                            <a:srgbClr val="0B2E4F"/>
                          </a:solidFill>
                        </a:rPr>
                        <a:t>Fuzzy-controlled PSO dominates</a:t>
                      </a:r>
                    </a:p>
                  </a:txBody>
                  <a:tcPr/>
                </a:tc>
                <a:extLst>
                  <a:ext uri="{0D108BD9-81ED-4DB2-BD59-A6C34878D82A}">
                    <a16:rowId xmlns:a16="http://schemas.microsoft.com/office/drawing/2014/main" val="10001"/>
                  </a:ext>
                </a:extLst>
              </a:tr>
              <a:tr h="822960">
                <a:tc>
                  <a:txBody>
                    <a:bodyPr/>
                    <a:lstStyle/>
                    <a:p>
                      <a:r>
                        <a:rPr sz="2000">
                          <a:solidFill>
                            <a:srgbClr val="0B2E4F"/>
                          </a:solidFill>
                        </a:rPr>
                        <a:t>Fuzzy adaptation interferes</a:t>
                      </a:r>
                    </a:p>
                    <a:p>
                      <a:r>
                        <a:rPr sz="2000">
                          <a:solidFill>
                            <a:srgbClr val="0B2E4F"/>
                          </a:solidFill>
                        </a:rPr>
                        <a:t>with efficient baseline dynamics</a:t>
                      </a:r>
                    </a:p>
                  </a:txBody>
                  <a:tcPr/>
                </a:tc>
                <a:tc>
                  <a:txBody>
                    <a:bodyPr/>
                    <a:lstStyle/>
                    <a:p>
                      <a:r>
                        <a:rPr sz="2000">
                          <a:solidFill>
                            <a:srgbClr val="0B2E4F"/>
                          </a:solidFill>
                        </a:rPr>
                        <a:t>Fuzzy adaptation improves</a:t>
                      </a:r>
                    </a:p>
                    <a:p>
                      <a:r>
                        <a:rPr sz="2000">
                          <a:solidFill>
                            <a:srgbClr val="0B2E4F"/>
                          </a:solidFill>
                        </a:rPr>
                        <a:t>mean and robustness</a:t>
                      </a:r>
                    </a:p>
                  </a:txBody>
                  <a:tcPr/>
                </a:tc>
                <a:extLst>
                  <a:ext uri="{0D108BD9-81ED-4DB2-BD59-A6C34878D82A}">
                    <a16:rowId xmlns:a16="http://schemas.microsoft.com/office/drawing/2014/main" val="10002"/>
                  </a:ext>
                </a:extLst>
              </a:tr>
              <a:tr h="822960">
                <a:tc>
                  <a:txBody>
                    <a:bodyPr/>
                    <a:lstStyle/>
                    <a:p>
                      <a:r>
                        <a:rPr sz="2000">
                          <a:solidFill>
                            <a:srgbClr val="0B2E4F"/>
                          </a:solidFill>
                        </a:rPr>
                        <a:t>Fuzzy variants drastically inflate the gap</a:t>
                      </a:r>
                    </a:p>
                  </a:txBody>
                  <a:tcPr/>
                </a:tc>
                <a:tc>
                  <a:txBody>
                    <a:bodyPr/>
                    <a:lstStyle/>
                    <a:p>
                      <a:r>
                        <a:rPr sz="2000">
                          <a:solidFill>
                            <a:srgbClr val="0B2E4F"/>
                          </a:solidFill>
                        </a:rPr>
                        <a:t>Fuzzy variants noticeably reduce the std</a:t>
                      </a:r>
                    </a:p>
                  </a:txBody>
                  <a:tcPr/>
                </a:tc>
                <a:extLst>
                  <a:ext uri="{0D108BD9-81ED-4DB2-BD59-A6C34878D82A}">
                    <a16:rowId xmlns:a16="http://schemas.microsoft.com/office/drawing/2014/main" val="10003"/>
                  </a:ext>
                </a:extLst>
              </a:tr>
              <a:tr h="822960">
                <a:tc>
                  <a:txBody>
                    <a:bodyPr/>
                    <a:lstStyle/>
                    <a:p>
                      <a:r>
                        <a:rPr sz="2000">
                          <a:solidFill>
                            <a:srgbClr val="0B2E4F"/>
                          </a:solidFill>
                        </a:rPr>
                        <a:t>Fuzzy time slightly higher (~12 s vs ~10 s)</a:t>
                      </a:r>
                    </a:p>
                  </a:txBody>
                  <a:tcPr/>
                </a:tc>
                <a:tc>
                  <a:txBody>
                    <a:bodyPr/>
                    <a:lstStyle/>
                    <a:p>
                      <a:r>
                        <a:rPr sz="2000" dirty="0">
                          <a:solidFill>
                            <a:srgbClr val="0B2E4F"/>
                          </a:solidFill>
                        </a:rPr>
                        <a:t>Modest overhead, justified by the gain</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3535706" y="5943600"/>
            <a:ext cx="5181547" cy="307777"/>
          </a:xfrm>
          <a:prstGeom prst="rect">
            <a:avLst/>
          </a:prstGeom>
          <a:noFill/>
        </p:spPr>
        <p:txBody>
          <a:bodyPr wrap="none">
            <a:spAutoFit/>
          </a:bodyPr>
          <a:lstStyle/>
          <a:p>
            <a:pPr algn="ctr"/>
            <a:r>
              <a:rPr sz="1400" i="1" dirty="0">
                <a:solidFill>
                  <a:srgbClr val="C0392B"/>
                </a:solidFill>
              </a:rPr>
              <a:t>"Fuzzy-controlled inertia adaptation is strongly problem-dependent."</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7A49B173-E947-DDE8-334D-4B9A8622F327}"/>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a:extLst>
              <a:ext uri="{FF2B5EF4-FFF2-40B4-BE49-F238E27FC236}">
                <a16:creationId xmlns:a16="http://schemas.microsoft.com/office/drawing/2014/main" id="{30A68440-7577-0DE0-04D3-66B0E3D4D0BA}"/>
              </a:ext>
            </a:extLst>
          </p:cNvPr>
          <p:cNvSpPr/>
          <p:nvPr/>
        </p:nvSpPr>
        <p:spPr>
          <a:xfrm>
            <a:off x="658367" y="1554480"/>
            <a:ext cx="10738976" cy="3847207"/>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Effect of Granularity and MF Design</a:t>
            </a:r>
          </a:p>
        </p:txBody>
      </p:sp>
      <p:sp>
        <p:nvSpPr>
          <p:cNvPr id="3" name="TextBox 2"/>
          <p:cNvSpPr txBox="1"/>
          <p:nvPr/>
        </p:nvSpPr>
        <p:spPr>
          <a:xfrm>
            <a:off x="640080" y="1554480"/>
            <a:ext cx="10738976" cy="3272691"/>
          </a:xfrm>
          <a:prstGeom prst="rect">
            <a:avLst/>
          </a:prstGeom>
          <a:noFill/>
        </p:spPr>
        <p:txBody>
          <a:bodyPr wrap="square">
            <a:spAutoFit/>
          </a:bodyPr>
          <a:lstStyle/>
          <a:p>
            <a:pPr marL="285750" indent="-285750" algn="l">
              <a:spcAft>
                <a:spcPts val="800"/>
              </a:spcAft>
              <a:buFont typeface="Wingdings" panose="05000000000000000000" pitchFamily="2" charset="2"/>
              <a:buChar char="§"/>
            </a:pPr>
            <a:r>
              <a:rPr sz="2400" dirty="0">
                <a:solidFill>
                  <a:srgbClr val="0B2E4F"/>
                </a:solidFill>
              </a:rPr>
              <a:t>On F1 and F11: no configuration (granularity nor Set A/B) recovers the baseline performance.</a:t>
            </a:r>
          </a:p>
          <a:p>
            <a:pPr marL="285750" indent="-285750" algn="l">
              <a:spcAft>
                <a:spcPts val="800"/>
              </a:spcAft>
              <a:buFont typeface="Wingdings" panose="05000000000000000000" pitchFamily="2" charset="2"/>
              <a:buChar char="§"/>
            </a:pPr>
            <a:r>
              <a:rPr sz="2400" dirty="0">
                <a:solidFill>
                  <a:srgbClr val="0B2E4F"/>
                </a:solidFill>
              </a:rPr>
              <a:t>On F21 and F23: 5-label schemes give a mild improvement in mean gap and, at times, lower variability.</a:t>
            </a:r>
          </a:p>
          <a:p>
            <a:pPr marL="285750" indent="-285750" algn="l">
              <a:spcAft>
                <a:spcPts val="800"/>
              </a:spcAft>
              <a:buFont typeface="Wingdings" panose="05000000000000000000" pitchFamily="2" charset="2"/>
              <a:buChar char="§"/>
            </a:pPr>
            <a:r>
              <a:rPr sz="2400" dirty="0">
                <a:solidFill>
                  <a:srgbClr val="0B2E4F"/>
                </a:solidFill>
              </a:rPr>
              <a:t>Set A vs Set B: no systematic advantage for either configuration on any function.</a:t>
            </a:r>
          </a:p>
          <a:p>
            <a:pPr marL="285750" indent="-285750" algn="l">
              <a:spcAft>
                <a:spcPts val="800"/>
              </a:spcAft>
              <a:buFont typeface="Wingdings" panose="05000000000000000000" pitchFamily="2" charset="2"/>
              <a:buChar char="§"/>
            </a:pPr>
            <a:r>
              <a:rPr sz="2400" dirty="0">
                <a:solidFill>
                  <a:srgbClr val="0B2E4F"/>
                </a:solidFill>
              </a:rPr>
              <a:t>Conclusion: semantic design is a measurable but secondary effect.</a:t>
            </a:r>
          </a:p>
          <a:p>
            <a:pPr marL="742950" lvl="1" indent="-285750" algn="l">
              <a:spcAft>
                <a:spcPts val="800"/>
              </a:spcAft>
              <a:buFont typeface="Wingdings" panose="05000000000000000000" pitchFamily="2" charset="2"/>
              <a:buChar char="§"/>
            </a:pPr>
            <a:r>
              <a:rPr dirty="0">
                <a:solidFill>
                  <a:srgbClr val="7030A0"/>
                </a:solidFill>
              </a:rPr>
              <a:t>The dominant factor is whether an adaptive mechanism is appropriate — not how it is semantically refined</a:t>
            </a:r>
            <a:r>
              <a:rPr sz="1500" dirty="0">
                <a:solidFill>
                  <a:srgbClr val="7030A0"/>
                </a:solidFill>
              </a:rPr>
              <a:t>.</a:t>
            </a:r>
          </a:p>
        </p:txBody>
      </p:sp>
      <p:sp>
        <p:nvSpPr>
          <p:cNvPr id="4" name="TextBox 3"/>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5" name="Shape 0">
            <a:extLst>
              <a:ext uri="{FF2B5EF4-FFF2-40B4-BE49-F238E27FC236}">
                <a16:creationId xmlns:a16="http://schemas.microsoft.com/office/drawing/2014/main" id="{2E0EBA63-727D-88E2-5F50-04A33C1C5099}"/>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a:extLst>
              <a:ext uri="{FF2B5EF4-FFF2-40B4-BE49-F238E27FC236}">
                <a16:creationId xmlns:a16="http://schemas.microsoft.com/office/drawing/2014/main" id="{8089E7E2-A880-C4D8-A31B-2D5C73D12A69}"/>
              </a:ext>
            </a:extLst>
          </p:cNvPr>
          <p:cNvSpPr/>
          <p:nvPr/>
        </p:nvSpPr>
        <p:spPr>
          <a:xfrm>
            <a:off x="658367" y="1280160"/>
            <a:ext cx="10738976" cy="4456611"/>
          </a:xfrm>
          <a:prstGeom prst="roundRect">
            <a:avLst>
              <a:gd name="adj" fmla="val 1860"/>
            </a:avLst>
          </a:prstGeom>
          <a:solidFill>
            <a:srgbClr val="FFFFFF"/>
          </a:solidFill>
          <a:ln w="12700">
            <a:solidFill>
              <a:srgbClr val="D7DDE7"/>
            </a:solidFill>
            <a:prstDash val="solid"/>
          </a:ln>
          <a:effectLst>
            <a:outerShdw blurRad="12700" dist="15240" dir="2700000" algn="bl" rotWithShape="0">
              <a:srgbClr val="000000">
                <a:alpha val="12000"/>
              </a:srgbClr>
            </a:outerShdw>
          </a:effectLst>
        </p:spPr>
        <p:txBody>
          <a:bodyPr/>
          <a:lstStyle/>
          <a:p>
            <a:endParaRPr lang="es-CL" dirty="0"/>
          </a:p>
        </p:txBody>
      </p:sp>
      <p:sp>
        <p:nvSpPr>
          <p:cNvPr id="2" name="TextBox 1"/>
          <p:cNvSpPr txBox="1"/>
          <p:nvPr/>
        </p:nvSpPr>
        <p:spPr>
          <a:xfrm>
            <a:off x="457200" y="274320"/>
            <a:ext cx="11247120" cy="822960"/>
          </a:xfrm>
          <a:prstGeom prst="rect">
            <a:avLst/>
          </a:prstGeom>
          <a:noFill/>
        </p:spPr>
        <p:txBody>
          <a:bodyPr wrap="square">
            <a:spAutoFit/>
          </a:bodyPr>
          <a:lstStyle/>
          <a:p>
            <a:r>
              <a:rPr sz="3000" b="1">
                <a:solidFill>
                  <a:srgbClr val="0B2E4F"/>
                </a:solidFill>
              </a:rPr>
              <a:t>Conclusions and Future Work</a:t>
            </a:r>
          </a:p>
        </p:txBody>
      </p:sp>
      <p:sp>
        <p:nvSpPr>
          <p:cNvPr id="3" name="TextBox 2"/>
          <p:cNvSpPr txBox="1"/>
          <p:nvPr/>
        </p:nvSpPr>
        <p:spPr>
          <a:xfrm>
            <a:off x="640080" y="1280160"/>
            <a:ext cx="10738976" cy="4216539"/>
          </a:xfrm>
          <a:prstGeom prst="rect">
            <a:avLst/>
          </a:prstGeom>
          <a:noFill/>
        </p:spPr>
        <p:txBody>
          <a:bodyPr wrap="square">
            <a:spAutoFit/>
          </a:bodyPr>
          <a:lstStyle/>
          <a:p>
            <a:pPr marL="457200" indent="-457200" algn="l">
              <a:spcAft>
                <a:spcPts val="800"/>
              </a:spcAft>
              <a:buFont typeface="+mj-lt"/>
              <a:buAutoNum type="arabicPeriod"/>
            </a:pPr>
            <a:r>
              <a:rPr sz="2400" dirty="0">
                <a:solidFill>
                  <a:srgbClr val="0B2E4F"/>
                </a:solidFill>
              </a:rPr>
              <a:t>Baseline PSO outperforms fuzzy variants on unimodal or structurally regular problems.</a:t>
            </a:r>
          </a:p>
          <a:p>
            <a:pPr marL="457200" indent="-457200" algn="l">
              <a:spcAft>
                <a:spcPts val="800"/>
              </a:spcAft>
              <a:buFont typeface="+mj-lt"/>
              <a:buAutoNum type="arabicPeriod"/>
            </a:pPr>
            <a:r>
              <a:rPr sz="2400" dirty="0">
                <a:solidFill>
                  <a:srgbClr val="0B2E4F"/>
                </a:solidFill>
              </a:rPr>
              <a:t>On complex multimodal problems, PSO-FCS improves average performance and robustness (lower mean gap, lower std).</a:t>
            </a:r>
          </a:p>
          <a:p>
            <a:pPr marL="457200" indent="-457200" algn="l">
              <a:spcAft>
                <a:spcPts val="800"/>
              </a:spcAft>
              <a:buFont typeface="+mj-lt"/>
              <a:buAutoNum type="arabicPeriod"/>
            </a:pPr>
            <a:r>
              <a:rPr sz="2400" dirty="0">
                <a:solidFill>
                  <a:srgbClr val="0B2E4F"/>
                </a:solidFill>
              </a:rPr>
              <a:t>Linguistic granularity and MF design have a measurable but secondary effect — no configuration dominates universally.</a:t>
            </a:r>
            <a:endParaRPr lang="es-CL" sz="2400" dirty="0">
              <a:solidFill>
                <a:srgbClr val="0B2E4F"/>
              </a:solidFill>
            </a:endParaRPr>
          </a:p>
          <a:p>
            <a:pPr marL="457200" indent="-457200" algn="l">
              <a:spcAft>
                <a:spcPts val="800"/>
              </a:spcAft>
              <a:buFont typeface="+mj-lt"/>
              <a:buAutoNum type="arabicPeriod"/>
            </a:pPr>
            <a:r>
              <a:rPr sz="2400" dirty="0">
                <a:solidFill>
                  <a:srgbClr val="0B2E4F"/>
                </a:solidFill>
              </a:rPr>
              <a:t>Future work:</a:t>
            </a:r>
          </a:p>
          <a:p>
            <a:pPr marL="914400" lvl="1" indent="-457200" algn="l">
              <a:spcAft>
                <a:spcPts val="800"/>
              </a:spcAft>
              <a:buFont typeface="+mj-lt"/>
              <a:buAutoNum type="arabicPeriod"/>
            </a:pPr>
            <a:r>
              <a:rPr sz="2000" dirty="0">
                <a:solidFill>
                  <a:srgbClr val="555555"/>
                </a:solidFill>
              </a:rPr>
              <a:t>Additional search-process metrics as fuzzy inputs.</a:t>
            </a:r>
          </a:p>
          <a:p>
            <a:pPr marL="914400" lvl="1" indent="-457200" algn="l">
              <a:spcAft>
                <a:spcPts val="800"/>
              </a:spcAft>
              <a:buFont typeface="+mj-lt"/>
              <a:buAutoNum type="arabicPeriod"/>
            </a:pPr>
            <a:r>
              <a:rPr sz="2000" dirty="0">
                <a:solidFill>
                  <a:srgbClr val="555555"/>
                </a:solidFill>
              </a:rPr>
              <a:t>Dynamic mechanisms to select / adapt the fuzzy configuration online.</a:t>
            </a:r>
          </a:p>
          <a:p>
            <a:pPr marL="914400" lvl="1" indent="-457200" algn="l">
              <a:spcAft>
                <a:spcPts val="800"/>
              </a:spcAft>
              <a:buFont typeface="+mj-lt"/>
              <a:buAutoNum type="arabicPeriod"/>
            </a:pPr>
            <a:r>
              <a:rPr sz="2000" dirty="0">
                <a:solidFill>
                  <a:srgbClr val="555555"/>
                </a:solidFill>
              </a:rPr>
              <a:t>Machine-learning-assisted meta-control of adaptive fuzzy strategies [13].</a:t>
            </a:r>
          </a:p>
        </p:txBody>
      </p:sp>
      <p:sp>
        <p:nvSpPr>
          <p:cNvPr id="4" name="TextBox 3"/>
          <p:cNvSpPr txBox="1"/>
          <p:nvPr/>
        </p:nvSpPr>
        <p:spPr>
          <a:xfrm>
            <a:off x="274320" y="6492240"/>
            <a:ext cx="8686800" cy="320040"/>
          </a:xfrm>
          <a:prstGeom prst="rect">
            <a:avLst/>
          </a:prstGeom>
          <a:noFill/>
        </p:spPr>
        <p:txBody>
          <a:bodyPr wrap="none">
            <a:spAutoFit/>
          </a:bodyPr>
          <a:lstStyle/>
          <a:p>
            <a:pPr algn="l"/>
            <a:r>
              <a:rPr sz="900" i="1">
                <a:solidFill>
                  <a:srgbClr val="888888"/>
                </a:solidFill>
              </a:rPr>
              <a:t>[13] Karimi-Mamaghan et al., EJOR 2022 — Machine learning at the service of metaheuristics</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6" name="Shape 0">
            <a:extLst>
              <a:ext uri="{FF2B5EF4-FFF2-40B4-BE49-F238E27FC236}">
                <a16:creationId xmlns:a16="http://schemas.microsoft.com/office/drawing/2014/main" id="{2B4B8133-2307-B44C-0C91-C6C0DBB4F972}"/>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65919" y="3438989"/>
            <a:ext cx="3324881" cy="400110"/>
          </a:xfrm>
          <a:prstGeom prst="rect">
            <a:avLst/>
          </a:prstGeom>
          <a:noFill/>
        </p:spPr>
        <p:txBody>
          <a:bodyPr wrap="square">
            <a:spAutoFit/>
          </a:bodyPr>
          <a:lstStyle/>
          <a:p>
            <a:pPr algn="l">
              <a:spcAft>
                <a:spcPts val="800"/>
              </a:spcAft>
            </a:pPr>
            <a:r>
              <a:rPr sz="2000" dirty="0">
                <a:solidFill>
                  <a:srgbClr val="0B2E4F"/>
                </a:solidFill>
              </a:rPr>
              <a:t>Contact: jose.barrera@pucv.cl</a:t>
            </a:r>
          </a:p>
        </p:txBody>
      </p:sp>
      <p:sp>
        <p:nvSpPr>
          <p:cNvPr id="4" name="TextBox 3"/>
          <p:cNvSpPr txBox="1"/>
          <p:nvPr/>
        </p:nvSpPr>
        <p:spPr>
          <a:xfrm>
            <a:off x="304800" y="1754535"/>
            <a:ext cx="11247120" cy="1828800"/>
          </a:xfrm>
          <a:prstGeom prst="rect">
            <a:avLst/>
          </a:prstGeom>
          <a:noFill/>
        </p:spPr>
        <p:txBody>
          <a:bodyPr wrap="none">
            <a:spAutoFit/>
          </a:bodyPr>
          <a:lstStyle/>
          <a:p>
            <a:pPr algn="ctr"/>
            <a:r>
              <a:rPr sz="6000" b="1" dirty="0">
                <a:solidFill>
                  <a:srgbClr val="0B2E4F"/>
                </a:solidFill>
              </a:rPr>
              <a:t>Questions?</a:t>
            </a:r>
          </a:p>
        </p:txBody>
      </p:sp>
      <p:sp>
        <p:nvSpPr>
          <p:cNvPr id="5" name="TextBox 4"/>
          <p:cNvSpPr txBox="1"/>
          <p:nvPr/>
        </p:nvSpPr>
        <p:spPr>
          <a:xfrm>
            <a:off x="8961120" y="6492240"/>
            <a:ext cx="2926080" cy="320040"/>
          </a:xfrm>
          <a:prstGeom prst="rect">
            <a:avLst/>
          </a:prstGeom>
          <a:noFill/>
        </p:spPr>
        <p:txBody>
          <a:bodyPr wrap="none">
            <a:spAutoFit/>
          </a:bodyPr>
          <a:lstStyle/>
          <a:p>
            <a:pPr algn="r"/>
            <a:r>
              <a:rPr sz="1000">
                <a:solidFill>
                  <a:srgbClr val="888888"/>
                </a:solidFill>
              </a:rPr>
              <a:t>OLA 2026 — Barrera-García et al.</a:t>
            </a:r>
          </a:p>
        </p:txBody>
      </p:sp>
      <p:sp>
        <p:nvSpPr>
          <p:cNvPr id="2" name="Shape 0">
            <a:extLst>
              <a:ext uri="{FF2B5EF4-FFF2-40B4-BE49-F238E27FC236}">
                <a16:creationId xmlns:a16="http://schemas.microsoft.com/office/drawing/2014/main" id="{BE7C1C08-5643-419D-F47C-13EEC25205BF}"/>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s-CL"/>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3285</Words>
  <Application>Microsoft Office PowerPoint</Application>
  <PresentationFormat>Panorámica</PresentationFormat>
  <Paragraphs>293</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Cambria Math</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Jose Barrera Garcia</cp:lastModifiedBy>
  <cp:revision>3</cp:revision>
  <dcterms:created xsi:type="dcterms:W3CDTF">2013-01-27T09:14:16Z</dcterms:created>
  <dcterms:modified xsi:type="dcterms:W3CDTF">2026-04-22T19:43:44Z</dcterms:modified>
  <cp:category/>
</cp:coreProperties>
</file>